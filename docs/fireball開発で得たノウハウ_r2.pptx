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クリックしてスライドを移動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JP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クリックしてノートの書式を編集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defRPr>
            </a:lvl1pPr>
          </a:lstStyle>
          <a:p>
            <a:pPr indent="0" algn="r">
              <a:buNone/>
            </a:pPr>
            <a:fld id="{9C6F8E0C-F767-4A46-A7ED-1853F41DB7B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erif CJK JP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B82C64-B049-4C51-80AD-1B9AA1D4A7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8046E2-8F5D-4577-AC62-3012119B3D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B1DC1A-E3BA-41D8-BA16-5BABB706AA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7CA146-070C-4369-93CF-312E7CE95E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F9F417-5597-40EF-97DD-31ED49FB20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EA85CB7-96E3-4B8B-AF59-389BF3E66D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B47638-850F-4053-B708-D3C9F1A117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07353C-B583-4762-96B8-90664DB22A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C2CFEC-D97E-4E02-B112-3B1DAD48C8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C409D0-7B0C-402C-BBDC-BF7015E462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D6E2F8-ADD1-4429-9674-D16CCF9399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8E4C07-6C1A-4A88-AA97-70584A7392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B9E38D-20C9-4985-B54F-4DF2250188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422CF3-36F1-4FFB-8746-83D715141D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0660F2-DA0A-45E6-A7D4-7EB0A95EDF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2481C1-F24B-4D22-B382-1ED6B155DB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8C2206-4E6F-450A-9E4D-777A0651F2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D2CDE9D-33ED-4009-8582-2214E1BB4D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2E5384-2721-48E1-840F-36AA2DB5D0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8E27178-735A-4F06-8A1F-B0FD03C715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ED698F-8ADB-402A-A25C-7F090D3AE7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6BB37D-2862-4DC1-B154-E041377022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BF63FC8-17C5-4591-80A1-EE82D4E7E0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E06E17-9B23-4E3F-943B-F255E76D07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3C1B29B-8552-4691-86A5-DA6DBE0FEF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FBF29A-EBBC-41CB-B911-2A03251AE1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382675-86AE-497A-8DE7-77FD64C15A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488BA0E-46A2-4921-8FC3-326FA960C3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802BC7-9F18-44A5-B83D-B753179552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F8EB78-C5D7-47C7-9C3E-02625E58D4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24A95BD-E998-4F91-BFA2-AF71B3AF5BC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574796B-0BDC-45D6-9380-567346CA20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CF508C-1B12-4436-B706-533DC16A5A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50F4EF-B25A-4963-A566-43D353A906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D109A11-2479-4819-B683-9F6ACD5A95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&lt;番号&gt;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oto Serif CJK JP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ja-JP" sz="1800" b="0" u="none" strike="noStrike">
                <a:solidFill>
                  <a:schemeClr val="dk1"/>
                </a:solidFill>
                <a:effectLst/>
                <a:uFillTx/>
                <a:latin typeface="Noto Sans CJK JP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ja-JP" sz="18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クリックしてタイトルテキストを編集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JP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3200" b="0" u="none" strike="noStrike">
                <a:solidFill>
                  <a:schemeClr val="dk1"/>
                </a:solidFill>
                <a:effectLst/>
                <a:uFillTx/>
                <a:latin typeface="Noto Sans CJK JP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400" b="0" u="none" strike="noStrike">
                <a:solidFill>
                  <a:schemeClr val="dk1"/>
                </a:solidFill>
                <a:effectLst/>
                <a:uFillTx/>
                <a:latin typeface="Noto Sans CJK JP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クリックしてアウトラインのテキストを編集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第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2</a:t>
            </a:r>
            <a:r>
              <a:rPr lang="ja-JP" sz="24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レベル アウトライン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3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4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5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6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JP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第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7</a:t>
            </a:r>
            <a:r>
              <a:rPr lang="ja-JP" sz="2000" b="0" u="none" strike="noStrike">
                <a:solidFill>
                  <a:schemeClr val="dk1"/>
                </a:solidFill>
                <a:effectLst/>
                <a:uFillTx/>
                <a:latin typeface="Noto Sans CJK JP"/>
              </a:rPr>
              <a:t>レベル アウトライン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 CJK JP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hyperlink" Target="https://github.com/kmt-t/fireball" TargetMode="External"/><Relationship Id="rId2" Type="http://schemas.openxmlformats.org/officeDocument/2006/relationships/hyperlink" Target="https://github.com/kmt-t/firebal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C1B2A"/>
          </a:solidFill>
          <a:ln w="12700">
            <a:solidFill>
              <a:srgbClr val="0C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76000" y="621720"/>
            <a:ext cx="81720" cy="522972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1040" tIns="45000" rIns="4104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9399960" y="987480"/>
            <a:ext cx="1643400" cy="16434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9633240" y="1220760"/>
            <a:ext cx="1166040" cy="1166040"/>
          </a:xfrm>
          <a:prstGeom prst="ellipse">
            <a:avLst/>
          </a:prstGeom>
          <a:solidFill>
            <a:srgbClr val="FFA238"/>
          </a:solidFill>
          <a:ln w="12700">
            <a:solidFill>
              <a:srgbClr val="FFA2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9856080" y="1443600"/>
            <a:ext cx="657000" cy="657000"/>
          </a:xfrm>
          <a:prstGeom prst="ellipse">
            <a:avLst/>
          </a:prstGeom>
          <a:solidFill>
            <a:srgbClr val="FFD08A"/>
          </a:solidFill>
          <a:ln w="12700">
            <a:solidFill>
              <a:srgbClr val="FFD0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 rot="10800000">
            <a:off x="8233920" y="1391400"/>
            <a:ext cx="1537200" cy="370440"/>
          </a:xfrm>
          <a:prstGeom prst="chevron">
            <a:avLst>
              <a:gd name="adj" fmla="val 50000"/>
            </a:avLst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 rot="10800000">
            <a:off x="8552160" y="1783800"/>
            <a:ext cx="1218960" cy="296280"/>
          </a:xfrm>
          <a:prstGeom prst="chevron">
            <a:avLst>
              <a:gd name="adj" fmla="val 50000"/>
            </a:avLst>
          </a:prstGeom>
          <a:solidFill>
            <a:srgbClr val="FFB45B"/>
          </a:solidFill>
          <a:ln w="12700">
            <a:solidFill>
              <a:srgbClr val="FFB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969120" y="1243440"/>
            <a:ext cx="813744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r>
              <a:rPr lang="ja-JP" sz="35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開発で得たノウハウ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987480" y="2084760"/>
            <a:ext cx="804600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78D7E3"/>
                </a:solidFill>
                <a:effectLst/>
                <a:uFillTx/>
                <a:latin typeface="Noto Sans CJK JP"/>
                <a:ea typeface="Noto Sans CJK JP"/>
              </a:rPr>
              <a:t>WASM</a:t>
            </a:r>
            <a:r>
              <a:rPr lang="ja-JP" sz="2150" b="1" u="none" strike="noStrike">
                <a:solidFill>
                  <a:srgbClr val="78D7E3"/>
                </a:solidFill>
                <a:effectLst/>
                <a:uFillTx/>
                <a:latin typeface="Noto Sans CJK JP"/>
                <a:ea typeface="Noto Sans CJK JP"/>
              </a:rPr>
              <a:t>ハイパーバイザを</a:t>
            </a:r>
            <a:r>
              <a:rPr lang="en-US" sz="2150" b="1" u="none" strike="noStrike">
                <a:solidFill>
                  <a:srgbClr val="78D7E3"/>
                </a:solidFill>
                <a:effectLst/>
                <a:uFillTx/>
                <a:latin typeface="Noto Sans CJK JP"/>
                <a:ea typeface="Noto Sans CJK JP"/>
              </a:rPr>
              <a:t>SDD</a:t>
            </a:r>
            <a:r>
              <a:rPr lang="ja-JP" sz="2150" b="1" u="none" strike="noStrike">
                <a:solidFill>
                  <a:srgbClr val="78D7E3"/>
                </a:solidFill>
                <a:effectLst/>
                <a:uFillTx/>
                <a:latin typeface="Noto Sans CJK JP"/>
                <a:ea typeface="Noto Sans CJK JP"/>
              </a:rPr>
              <a:t>で開発してみた</a:t>
            </a:r>
            <a:endParaRPr lang="en-US" sz="2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987480" y="2926080"/>
            <a:ext cx="722304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720" b="0" u="none" strike="noStrike">
                <a:solidFill>
                  <a:srgbClr val="C5D1DC"/>
                </a:solidFill>
                <a:effectLst/>
                <a:uFillTx/>
                <a:latin typeface="Noto Sans CJK JP"/>
                <a:ea typeface="Noto Sans CJK JP"/>
              </a:rPr>
              <a:t>RAM 32KB / ROM 96KB </a:t>
            </a:r>
            <a:r>
              <a:rPr lang="ja-JP" sz="1720" b="0" u="none" strike="noStrike">
                <a:solidFill>
                  <a:srgbClr val="C5D1DC"/>
                </a:solidFill>
                <a:effectLst/>
                <a:uFillTx/>
                <a:latin typeface="Noto Sans CJK JP"/>
                <a:ea typeface="Noto Sans CJK JP"/>
              </a:rPr>
              <a:t>という極端な制約下で、</a:t>
            </a:r>
            <a:endParaRPr lang="en-US" sz="1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720" b="0" u="none" strike="noStrike">
                <a:solidFill>
                  <a:srgbClr val="C5D1DC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720" b="0" u="none" strike="noStrike">
                <a:solidFill>
                  <a:srgbClr val="C5D1DC"/>
                </a:solidFill>
                <a:effectLst/>
                <a:uFillTx/>
                <a:latin typeface="Noto Sans CJK JP"/>
                <a:ea typeface="Noto Sans CJK JP"/>
              </a:rPr>
              <a:t>支援開発をどうプロセス化したか</a:t>
            </a:r>
            <a:endParaRPr lang="en-US" sz="1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987480" y="4160520"/>
            <a:ext cx="2696760" cy="291960"/>
          </a:xfrm>
          <a:prstGeom prst="roundRect">
            <a:avLst>
              <a:gd name="adj" fmla="val 50000"/>
            </a:avLst>
          </a:prstGeom>
          <a:solidFill>
            <a:srgbClr val="19364A"/>
          </a:solidFill>
          <a:ln w="12700">
            <a:solidFill>
              <a:srgbClr val="1936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069920" y="4210920"/>
            <a:ext cx="25322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8EE6ED"/>
                </a:solidFill>
                <a:effectLst/>
                <a:uFillTx/>
                <a:latin typeface="Noto Sans CJK JP"/>
                <a:ea typeface="Noto Sans CJK JP"/>
              </a:rPr>
              <a:t>Specification-Driven Development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987480" y="4937760"/>
            <a:ext cx="21024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kmt-t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987480" y="5285160"/>
            <a:ext cx="25596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2869A"/>
                </a:solidFill>
                <a:effectLst/>
                <a:uFillTx/>
                <a:latin typeface="Noto Sans CJK JP"/>
                <a:ea typeface="Noto Sans CJK JP"/>
              </a:rPr>
              <a:t>45</a:t>
            </a:r>
            <a:r>
              <a:rPr lang="ja-JP" sz="1050" b="0" u="none" strike="noStrike">
                <a:solidFill>
                  <a:srgbClr val="72869A"/>
                </a:solidFill>
                <a:effectLst/>
                <a:uFillTx/>
                <a:latin typeface="Noto Sans CJK JP"/>
                <a:ea typeface="Noto Sans CJK JP"/>
              </a:rPr>
              <a:t>分 </a:t>
            </a:r>
            <a:r>
              <a:rPr lang="en-US" sz="1050" b="0" u="none" strike="noStrike">
                <a:solidFill>
                  <a:srgbClr val="72869A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50" b="0" u="none" strike="noStrike">
                <a:solidFill>
                  <a:srgbClr val="72869A"/>
                </a:solidFill>
                <a:effectLst/>
                <a:uFillTx/>
                <a:latin typeface="Noto Sans CJK JP"/>
                <a:ea typeface="Noto Sans CJK JP"/>
              </a:rPr>
              <a:t>技術発表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9399960" y="278892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8641080" y="3154680"/>
            <a:ext cx="34740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0" u="none" strike="noStrike">
                <a:solidFill>
                  <a:srgbClr val="99AABC"/>
                </a:solidFill>
                <a:effectLst/>
                <a:uFillTx/>
                <a:latin typeface="Noto Sans CJK JP"/>
                <a:ea typeface="Noto Sans CJK JP"/>
              </a:rPr>
              <a:t>組み込み向け</a:t>
            </a:r>
            <a:r>
              <a:rPr lang="en-US" sz="1050" b="0" u="none" strike="noStrike">
                <a:solidFill>
                  <a:srgbClr val="99AABC"/>
                </a:solidFill>
                <a:effectLst/>
                <a:uFillTx/>
                <a:latin typeface="Noto Sans CJK JP"/>
                <a:ea typeface="Noto Sans CJK JP"/>
              </a:rPr>
              <a:t>WASM</a:t>
            </a:r>
            <a:r>
              <a:rPr lang="ja-JP" sz="1050" b="0" u="none" strike="noStrike">
                <a:solidFill>
                  <a:srgbClr val="99AABC"/>
                </a:solidFill>
                <a:effectLst/>
                <a:uFillTx/>
                <a:latin typeface="Noto Sans CJK JP"/>
                <a:ea typeface="Noto Sans CJK JP"/>
              </a:rPr>
              <a:t>ハイパーバイザ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8705160" y="4041720"/>
            <a:ext cx="1297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32KB RAM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10213920" y="4041720"/>
            <a:ext cx="1297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96KB ROM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9984960" y="3986640"/>
            <a:ext cx="360" cy="475560"/>
          </a:xfrm>
          <a:prstGeom prst="line">
            <a:avLst/>
          </a:prstGeom>
          <a:ln w="12700">
            <a:solidFill>
              <a:srgbClr val="49617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自己紹介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組み込み </a:t>
            </a:r>
            <a:r>
              <a:rPr lang="en-US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× AI</a:t>
            </a: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支援開発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背景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658440" y="1261800"/>
            <a:ext cx="2971080" cy="4443120"/>
          </a:xfrm>
          <a:prstGeom prst="roundRect">
            <a:avLst>
              <a:gd name="adj" fmla="val 3077"/>
            </a:avLst>
          </a:prstGeom>
          <a:solidFill>
            <a:srgbClr val="0C1B2A"/>
          </a:solidFill>
          <a:ln w="12700">
            <a:solidFill>
              <a:srgbClr val="0C1B2A"/>
            </a:solidFill>
            <a:round/>
          </a:ln>
          <a:effectLst>
            <a:outerShdw algn="bl" blurRad="12600" dir="2700000" dist="49893" kx="0" ky="0" rotWithShape="0" sx="100000" sy="100000">
              <a:srgbClr val="000000">
                <a:alpha val="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1334880" y="4023360"/>
            <a:ext cx="1462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kmt-t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1024200" y="4480560"/>
            <a:ext cx="22395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70" b="0" u="none" strike="noStrike">
                <a:solidFill>
                  <a:srgbClr val="A7BBCB"/>
                </a:solidFill>
                <a:effectLst/>
                <a:uFillTx/>
                <a:latin typeface="Noto Sans CJK JP"/>
                <a:ea typeface="Noto Sans CJK JP"/>
              </a:rPr>
              <a:t>リソース制約の厳しい領域が主戦場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4069080" y="1417320"/>
            <a:ext cx="690300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blurRad="161290080" dir="0" dist="645159960" kx="0" ky="0" rotWithShape="0" sx="100000" sy="10000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3"/>
          <p:cNvSpPr/>
          <p:nvPr/>
        </p:nvSpPr>
        <p:spPr>
          <a:xfrm>
            <a:off x="4233600" y="1581840"/>
            <a:ext cx="200520" cy="2005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4526280" y="1563480"/>
            <a:ext cx="6281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センサーメーカー勤務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4233600" y="1911240"/>
            <a:ext cx="6573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ハードウェアに近い領域のソフトウェア開発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6"/>
          <p:cNvSpPr/>
          <p:nvPr/>
        </p:nvSpPr>
        <p:spPr>
          <a:xfrm>
            <a:off x="4069080" y="2834640"/>
            <a:ext cx="690300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7"/>
          <p:cNvSpPr/>
          <p:nvPr/>
        </p:nvSpPr>
        <p:spPr>
          <a:xfrm>
            <a:off x="4233600" y="2999160"/>
            <a:ext cx="200520" cy="2005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8"/>
          <p:cNvSpPr/>
          <p:nvPr/>
        </p:nvSpPr>
        <p:spPr>
          <a:xfrm>
            <a:off x="4526280" y="2980800"/>
            <a:ext cx="6281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組み込み開発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4233600" y="3328560"/>
            <a:ext cx="6573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メモリ・性能・決定性を意識した実装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0"/>
          <p:cNvSpPr/>
          <p:nvPr/>
        </p:nvSpPr>
        <p:spPr>
          <a:xfrm>
            <a:off x="4069080" y="4251960"/>
            <a:ext cx="690300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4233600" y="4416480"/>
            <a:ext cx="200520" cy="2005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4526280" y="4398120"/>
            <a:ext cx="6281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支援開発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4233600" y="4745880"/>
            <a:ext cx="65739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実際の開発プロセスに組み込み、効果と限界を検証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02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Picture 54" descr="b72e57cb-0aa1-5da7-8249-ad65b843353b.png"/>
          <p:cNvPicPr/>
          <p:nvPr/>
        </p:nvPicPr>
        <p:blipFill>
          <a:blip r:embed="rId1"/>
          <a:stretch/>
        </p:blipFill>
        <p:spPr>
          <a:xfrm>
            <a:off x="932760" y="1444680"/>
            <a:ext cx="2194200" cy="263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仕様駆動開発（</a:t>
            </a: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SDD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）の実践的検証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考えるより、まずやってみる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背景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658440" y="1170360"/>
            <a:ext cx="10880640" cy="621000"/>
          </a:xfrm>
          <a:prstGeom prst="roundRect">
            <a:avLst>
              <a:gd name="adj" fmla="val 10294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841320" y="1298520"/>
            <a:ext cx="10514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強い仮説を、実際の開発を通じて検証する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658440" y="2030040"/>
            <a:ext cx="3400920" cy="12978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822960" y="2194560"/>
            <a:ext cx="383400" cy="38340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822960" y="2263320"/>
            <a:ext cx="38340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1316880" y="2185560"/>
            <a:ext cx="25779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r>
              <a:rPr lang="ja-JP" sz="14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に</a:t>
            </a:r>
            <a:r>
              <a:rPr lang="en-US" sz="14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SDD</a:t>
            </a:r>
            <a:r>
              <a:rPr lang="ja-JP" sz="14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を適用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841320" y="2688480"/>
            <a:ext cx="3035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機能する条件と破綻する条件を実プロジェクトで確認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2"/>
          <p:cNvSpPr/>
          <p:nvPr/>
        </p:nvSpPr>
        <p:spPr>
          <a:xfrm>
            <a:off x="4316040" y="2030040"/>
            <a:ext cx="3400920" cy="12978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4480560" y="2194560"/>
            <a:ext cx="383400" cy="3834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4"/>
          <p:cNvSpPr/>
          <p:nvPr/>
        </p:nvSpPr>
        <p:spPr>
          <a:xfrm>
            <a:off x="4480560" y="2263320"/>
            <a:ext cx="38340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4974480" y="2185560"/>
            <a:ext cx="25779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設計意図を残す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4498920" y="2688480"/>
            <a:ext cx="3035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将来のフォークや移植でも意図を継承できるかを見る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7"/>
          <p:cNvSpPr/>
          <p:nvPr/>
        </p:nvSpPr>
        <p:spPr>
          <a:xfrm>
            <a:off x="7973640" y="2030040"/>
            <a:ext cx="3400920" cy="12978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8"/>
          <p:cNvSpPr/>
          <p:nvPr/>
        </p:nvSpPr>
        <p:spPr>
          <a:xfrm>
            <a:off x="8138160" y="2194560"/>
            <a:ext cx="383400" cy="383400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8138160" y="2263320"/>
            <a:ext cx="38340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8632080" y="2185560"/>
            <a:ext cx="25779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4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支援の限界を測る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1"/>
          <p:cNvSpPr/>
          <p:nvPr/>
        </p:nvSpPr>
        <p:spPr>
          <a:xfrm>
            <a:off x="8156520" y="2688480"/>
            <a:ext cx="3035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「動く」だけでは見えない設計品質まで検証する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2"/>
          <p:cNvSpPr/>
          <p:nvPr/>
        </p:nvSpPr>
        <p:spPr>
          <a:xfrm>
            <a:off x="694800" y="3703320"/>
            <a:ext cx="3656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最初からあった</a:t>
            </a:r>
            <a:r>
              <a:rPr lang="en-US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r>
              <a:rPr lang="ja-JP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つの懸念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23"/>
          <p:cNvSpPr/>
          <p:nvPr/>
        </p:nvSpPr>
        <p:spPr>
          <a:xfrm>
            <a:off x="658440" y="4133160"/>
            <a:ext cx="5229720" cy="712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4"/>
          <p:cNvSpPr/>
          <p:nvPr/>
        </p:nvSpPr>
        <p:spPr>
          <a:xfrm>
            <a:off x="822960" y="4380120"/>
            <a:ext cx="200520" cy="2005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5"/>
          <p:cNvSpPr/>
          <p:nvPr/>
        </p:nvSpPr>
        <p:spPr>
          <a:xfrm>
            <a:off x="1161360" y="430668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実装速度の低下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6"/>
          <p:cNvSpPr/>
          <p:nvPr/>
        </p:nvSpPr>
        <p:spPr>
          <a:xfrm>
            <a:off x="6144840" y="4133160"/>
            <a:ext cx="5229720" cy="712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7"/>
          <p:cNvSpPr/>
          <p:nvPr/>
        </p:nvSpPr>
        <p:spPr>
          <a:xfrm>
            <a:off x="6309360" y="4380120"/>
            <a:ext cx="200520" cy="2005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8"/>
          <p:cNvSpPr/>
          <p:nvPr/>
        </p:nvSpPr>
        <p:spPr>
          <a:xfrm>
            <a:off x="6647760" y="430668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誤った仕様の固定化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9"/>
          <p:cNvSpPr/>
          <p:nvPr/>
        </p:nvSpPr>
        <p:spPr>
          <a:xfrm>
            <a:off x="658440" y="5120640"/>
            <a:ext cx="5229720" cy="712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30"/>
          <p:cNvSpPr/>
          <p:nvPr/>
        </p:nvSpPr>
        <p:spPr>
          <a:xfrm>
            <a:off x="822960" y="5367600"/>
            <a:ext cx="200520" cy="200520"/>
          </a:xfrm>
          <a:prstGeom prst="ellipse">
            <a:avLst/>
          </a:prstGeom>
          <a:solidFill>
            <a:srgbClr val="7B61C9"/>
          </a:solidFill>
          <a:ln w="12700">
            <a:solidFill>
              <a:srgbClr val="7B61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1"/>
          <p:cNvSpPr/>
          <p:nvPr/>
        </p:nvSpPr>
        <p:spPr>
          <a:xfrm>
            <a:off x="1161360" y="529452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大量ドキュメントのメンテナンス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2"/>
          <p:cNvSpPr/>
          <p:nvPr/>
        </p:nvSpPr>
        <p:spPr>
          <a:xfrm>
            <a:off x="6144840" y="5120640"/>
            <a:ext cx="5229720" cy="712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33"/>
          <p:cNvSpPr/>
          <p:nvPr/>
        </p:nvSpPr>
        <p:spPr>
          <a:xfrm>
            <a:off x="6309360" y="5367600"/>
            <a:ext cx="200520" cy="2005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34"/>
          <p:cNvSpPr/>
          <p:nvPr/>
        </p:nvSpPr>
        <p:spPr>
          <a:xfrm>
            <a:off x="6647760" y="5294520"/>
            <a:ext cx="4388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実機でしか分からない問題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5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6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組み込み向け</a:t>
            </a: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WASM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ハイパーバイザ「</a:t>
            </a: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」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極小リソースに合わせて設計した仮想</a:t>
            </a:r>
            <a:r>
              <a:rPr lang="en-US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SoC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背景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5"/>
          <p:cNvSpPr/>
          <p:nvPr/>
        </p:nvSpPr>
        <p:spPr>
          <a:xfrm>
            <a:off x="658440" y="1216080"/>
            <a:ext cx="3748320" cy="4882320"/>
          </a:xfrm>
          <a:prstGeom prst="roundRect">
            <a:avLst>
              <a:gd name="adj" fmla="val 2439"/>
            </a:avLst>
          </a:prstGeom>
          <a:solidFill>
            <a:srgbClr val="0C1B2A"/>
          </a:solidFill>
          <a:ln w="12700">
            <a:solidFill>
              <a:srgbClr val="0C1B2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960120" y="1572840"/>
            <a:ext cx="31082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960120" y="2057400"/>
            <a:ext cx="310824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800" b="1" u="none" strike="noStrike">
                <a:solidFill>
                  <a:srgbClr val="8CE1E8"/>
                </a:solidFill>
                <a:effectLst/>
                <a:uFillTx/>
                <a:latin typeface="Noto Sans CJK JP"/>
                <a:ea typeface="Noto Sans CJK JP"/>
              </a:rPr>
              <a:t>組み込み向け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8CE1E8"/>
                </a:solidFill>
                <a:effectLst/>
                <a:uFillTx/>
                <a:latin typeface="Noto Sans CJK JP"/>
                <a:ea typeface="Noto Sans CJK JP"/>
              </a:rPr>
              <a:t>WASM</a:t>
            </a:r>
            <a:r>
              <a:rPr lang="ja-JP" sz="1800" b="1" u="none" strike="noStrike">
                <a:solidFill>
                  <a:srgbClr val="8CE1E8"/>
                </a:solidFill>
                <a:effectLst/>
                <a:uFillTx/>
                <a:latin typeface="Noto Sans CJK JP"/>
                <a:ea typeface="Noto Sans CJK JP"/>
              </a:rPr>
              <a:t>ハイパーバイザ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8"/>
          <p:cNvSpPr/>
          <p:nvPr/>
        </p:nvSpPr>
        <p:spPr>
          <a:xfrm>
            <a:off x="987480" y="3090600"/>
            <a:ext cx="10051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32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1783080" y="334656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8C5D0"/>
                </a:solidFill>
                <a:effectLst/>
                <a:uFillTx/>
                <a:latin typeface="Noto Sans CJK JP"/>
                <a:ea typeface="Noto Sans CJK JP"/>
              </a:rPr>
              <a:t>KB RAM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987480" y="3886200"/>
            <a:ext cx="10051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96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1783080" y="4142160"/>
            <a:ext cx="118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8C5D0"/>
                </a:solidFill>
                <a:effectLst/>
                <a:uFillTx/>
                <a:latin typeface="Noto Sans CJK JP"/>
                <a:ea typeface="Noto Sans CJK JP"/>
              </a:rPr>
              <a:t>KB ROM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2"/>
          <p:cNvSpPr/>
          <p:nvPr/>
        </p:nvSpPr>
        <p:spPr>
          <a:xfrm>
            <a:off x="978480" y="5010840"/>
            <a:ext cx="2376720" cy="291960"/>
          </a:xfrm>
          <a:prstGeom prst="roundRect">
            <a:avLst>
              <a:gd name="adj" fmla="val 50000"/>
            </a:avLst>
          </a:prstGeom>
          <a:solidFill>
            <a:srgbClr val="18394C"/>
          </a:solidFill>
          <a:ln w="12700">
            <a:solidFill>
              <a:srgbClr val="1839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3"/>
          <p:cNvSpPr/>
          <p:nvPr/>
        </p:nvSpPr>
        <p:spPr>
          <a:xfrm>
            <a:off x="1060560" y="5061240"/>
            <a:ext cx="2212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95E6ED"/>
                </a:solidFill>
                <a:effectLst/>
                <a:uFillTx/>
                <a:latin typeface="Noto Sans CJK JP"/>
                <a:ea typeface="Noto Sans CJK JP"/>
              </a:rPr>
              <a:t>動的確保に依存しない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4"/>
          <p:cNvSpPr/>
          <p:nvPr/>
        </p:nvSpPr>
        <p:spPr>
          <a:xfrm>
            <a:off x="4800600" y="1298520"/>
            <a:ext cx="6747480" cy="876960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5"/>
          <p:cNvSpPr/>
          <p:nvPr/>
        </p:nvSpPr>
        <p:spPr>
          <a:xfrm>
            <a:off x="4965120" y="1463040"/>
            <a:ext cx="200520" cy="2005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6"/>
          <p:cNvSpPr/>
          <p:nvPr/>
        </p:nvSpPr>
        <p:spPr>
          <a:xfrm>
            <a:off x="5257800" y="1444680"/>
            <a:ext cx="6125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固定容量メモリ管理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7"/>
          <p:cNvSpPr/>
          <p:nvPr/>
        </p:nvSpPr>
        <p:spPr>
          <a:xfrm>
            <a:off x="4965120" y="1792080"/>
            <a:ext cx="6418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動的メモリ割り当てに依存しない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8"/>
          <p:cNvSpPr/>
          <p:nvPr/>
        </p:nvSpPr>
        <p:spPr>
          <a:xfrm>
            <a:off x="4800600" y="2450520"/>
            <a:ext cx="6747480" cy="876960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9"/>
          <p:cNvSpPr/>
          <p:nvPr/>
        </p:nvSpPr>
        <p:spPr>
          <a:xfrm>
            <a:off x="4965120" y="2615040"/>
            <a:ext cx="200520" cy="2005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0"/>
          <p:cNvSpPr/>
          <p:nvPr/>
        </p:nvSpPr>
        <p:spPr>
          <a:xfrm>
            <a:off x="5257800" y="2597040"/>
            <a:ext cx="6125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予測可能な実行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1"/>
          <p:cNvSpPr/>
          <p:nvPr/>
        </p:nvSpPr>
        <p:spPr>
          <a:xfrm>
            <a:off x="4965120" y="2944440"/>
            <a:ext cx="6418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決定性とリソース上限を重視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2"/>
          <p:cNvSpPr/>
          <p:nvPr/>
        </p:nvSpPr>
        <p:spPr>
          <a:xfrm>
            <a:off x="4800600" y="3602880"/>
            <a:ext cx="6747480" cy="876960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3"/>
          <p:cNvSpPr/>
          <p:nvPr/>
        </p:nvSpPr>
        <p:spPr>
          <a:xfrm>
            <a:off x="4965120" y="3767400"/>
            <a:ext cx="200520" cy="200520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4"/>
          <p:cNvSpPr/>
          <p:nvPr/>
        </p:nvSpPr>
        <p:spPr>
          <a:xfrm>
            <a:off x="5257800" y="3749040"/>
            <a:ext cx="6125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Wasm bytecode</a:t>
            </a: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を解釈実行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5"/>
          <p:cNvSpPr/>
          <p:nvPr/>
        </p:nvSpPr>
        <p:spPr>
          <a:xfrm>
            <a:off x="4965120" y="4096440"/>
            <a:ext cx="6418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仮想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SoC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として動作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6"/>
          <p:cNvSpPr/>
          <p:nvPr/>
        </p:nvSpPr>
        <p:spPr>
          <a:xfrm>
            <a:off x="4800600" y="4754880"/>
            <a:ext cx="6747480" cy="876960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7"/>
          <p:cNvSpPr/>
          <p:nvPr/>
        </p:nvSpPr>
        <p:spPr>
          <a:xfrm>
            <a:off x="4965120" y="4919400"/>
            <a:ext cx="200520" cy="2005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8"/>
          <p:cNvSpPr/>
          <p:nvPr/>
        </p:nvSpPr>
        <p:spPr>
          <a:xfrm>
            <a:off x="5257800" y="4901040"/>
            <a:ext cx="61257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特定ユースケースに最適化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9"/>
          <p:cNvSpPr/>
          <p:nvPr/>
        </p:nvSpPr>
        <p:spPr>
          <a:xfrm>
            <a:off x="4965120" y="5248800"/>
            <a:ext cx="64184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WAMR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を上回る実行性能を目指す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0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1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04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のアーキテクチャ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クリーンアーキテクチャと同じく、依存は外側から内側へ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背景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2057400" y="1298520"/>
            <a:ext cx="7954560" cy="657720"/>
          </a:xfrm>
          <a:prstGeom prst="roundRect">
            <a:avLst>
              <a:gd name="adj" fmla="val 6944"/>
            </a:avLst>
          </a:prstGeom>
          <a:solidFill>
            <a:srgbClr val="EFF2F6"/>
          </a:solidFill>
          <a:ln w="12700">
            <a:solidFill>
              <a:srgbClr val="A7B1BE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2240280" y="1417320"/>
            <a:ext cx="46134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最外層：ハードウェア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6591960" y="1435680"/>
            <a:ext cx="31017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RAM / ROM / </a:t>
            </a:r>
            <a:r>
              <a:rPr lang="ja-JP" sz="1180" b="1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デバイス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6035040" y="1956600"/>
            <a:ext cx="360" cy="2379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2386440" y="2194560"/>
            <a:ext cx="7296120" cy="657720"/>
          </a:xfrm>
          <a:prstGeom prst="roundRect">
            <a:avLst>
              <a:gd name="adj" fmla="val 6944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2569320" y="2313360"/>
            <a:ext cx="42314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r>
              <a:rPr lang="ja-JP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層：プラットフォームアクセス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6545880" y="2331720"/>
            <a:ext cx="2845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JIT / </a:t>
            </a:r>
            <a:r>
              <a:rPr lang="ja-JP" sz="118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ドライバ </a:t>
            </a:r>
            <a:r>
              <a:rPr lang="en-US" sz="118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/ WASI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6035040" y="2852640"/>
            <a:ext cx="360" cy="2379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2715840" y="3090600"/>
            <a:ext cx="6637680" cy="657720"/>
          </a:xfrm>
          <a:prstGeom prst="roundRect">
            <a:avLst>
              <a:gd name="adj" fmla="val 6944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4"/>
          <p:cNvSpPr/>
          <p:nvPr/>
        </p:nvSpPr>
        <p:spPr>
          <a:xfrm>
            <a:off x="2898720" y="3209400"/>
            <a:ext cx="3849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境界契約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6499800" y="3227760"/>
            <a:ext cx="25884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HAL / </a:t>
            </a:r>
            <a:r>
              <a:rPr lang="ja-JP" sz="118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ポート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6"/>
          <p:cNvSpPr/>
          <p:nvPr/>
        </p:nvSpPr>
        <p:spPr>
          <a:xfrm>
            <a:off x="6035040" y="3749040"/>
            <a:ext cx="360" cy="23760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7"/>
          <p:cNvSpPr/>
          <p:nvPr/>
        </p:nvSpPr>
        <p:spPr>
          <a:xfrm>
            <a:off x="3044880" y="3986640"/>
            <a:ext cx="5979600" cy="657720"/>
          </a:xfrm>
          <a:prstGeom prst="roundRect">
            <a:avLst>
              <a:gd name="adj" fmla="val 6944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8"/>
          <p:cNvSpPr/>
          <p:nvPr/>
        </p:nvSpPr>
        <p:spPr>
          <a:xfrm>
            <a:off x="3227760" y="4105800"/>
            <a:ext cx="3467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r>
              <a:rPr lang="ja-JP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層：実行基盤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6453720" y="4123800"/>
            <a:ext cx="2331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WASM</a:t>
            </a:r>
            <a:r>
              <a:rPr lang="ja-JP" sz="118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ランタイム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0"/>
          <p:cNvSpPr/>
          <p:nvPr/>
        </p:nvSpPr>
        <p:spPr>
          <a:xfrm>
            <a:off x="6035040" y="4645080"/>
            <a:ext cx="360" cy="23760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1"/>
          <p:cNvSpPr/>
          <p:nvPr/>
        </p:nvSpPr>
        <p:spPr>
          <a:xfrm>
            <a:off x="3374280" y="4883040"/>
            <a:ext cx="5321160" cy="657720"/>
          </a:xfrm>
          <a:prstGeom prst="roundRect">
            <a:avLst>
              <a:gd name="adj" fmla="val 6944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2"/>
          <p:cNvSpPr/>
          <p:nvPr/>
        </p:nvSpPr>
        <p:spPr>
          <a:xfrm>
            <a:off x="3557160" y="5001840"/>
            <a:ext cx="3085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r>
              <a:rPr lang="ja-JP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層：コア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3"/>
          <p:cNvSpPr/>
          <p:nvPr/>
        </p:nvSpPr>
        <p:spPr>
          <a:xfrm>
            <a:off x="6407640" y="5020200"/>
            <a:ext cx="2074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OS / IPC / </a:t>
            </a:r>
            <a:r>
              <a:rPr lang="ja-JP" sz="118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メモリ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4"/>
          <p:cNvSpPr/>
          <p:nvPr/>
        </p:nvSpPr>
        <p:spPr>
          <a:xfrm>
            <a:off x="1481400" y="5852160"/>
            <a:ext cx="9280440" cy="529560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5"/>
          <p:cNvSpPr/>
          <p:nvPr/>
        </p:nvSpPr>
        <p:spPr>
          <a:xfrm>
            <a:off x="1664280" y="5980320"/>
            <a:ext cx="89146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依存方向の原則：外側の具体物が、内側の方針・抽象へ依存する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6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7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開発状況と設計完成度の乖離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「動く」ことと「設計が固まっている」ことは別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背景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5"/>
          <p:cNvSpPr/>
          <p:nvPr/>
        </p:nvSpPr>
        <p:spPr>
          <a:xfrm>
            <a:off x="658440" y="1298520"/>
            <a:ext cx="2971080" cy="19926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932760" y="1572840"/>
            <a:ext cx="2422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フルセット動作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914400" y="1974960"/>
            <a:ext cx="246816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100%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932760" y="2761560"/>
            <a:ext cx="23767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Python</a:t>
            </a:r>
            <a:r>
              <a:rPr lang="ja-JP" sz="10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参照シミュレータ段階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9"/>
          <p:cNvSpPr/>
          <p:nvPr/>
        </p:nvSpPr>
        <p:spPr>
          <a:xfrm>
            <a:off x="658440" y="3584520"/>
            <a:ext cx="2971080" cy="1937880"/>
          </a:xfrm>
          <a:prstGeom prst="roundRect">
            <a:avLst>
              <a:gd name="adj" fmla="val 3774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932760" y="3840480"/>
            <a:ext cx="2422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設計完成度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914400" y="4251960"/>
            <a:ext cx="24681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340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未成熟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932760" y="4992480"/>
            <a:ext cx="24224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アーキテクチャ </a:t>
            </a:r>
            <a:r>
              <a:rPr lang="en-US" sz="10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仕様の整備が追いつかない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3"/>
          <p:cNvSpPr/>
          <p:nvPr/>
        </p:nvSpPr>
        <p:spPr>
          <a:xfrm>
            <a:off x="4224600" y="2148840"/>
            <a:ext cx="1443960" cy="932040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4334400" y="2240280"/>
            <a:ext cx="12247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不足文脈を</a:t>
            </a:r>
            <a:r>
              <a:rPr lang="en-US" sz="11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1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が補う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5"/>
          <p:cNvSpPr/>
          <p:nvPr/>
        </p:nvSpPr>
        <p:spPr>
          <a:xfrm>
            <a:off x="5669280" y="2615040"/>
            <a:ext cx="27432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6"/>
          <p:cNvSpPr/>
          <p:nvPr/>
        </p:nvSpPr>
        <p:spPr>
          <a:xfrm>
            <a:off x="5943600" y="2148840"/>
            <a:ext cx="1443960" cy="932040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6053400" y="2240280"/>
            <a:ext cx="12247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とりあえず動く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8"/>
          <p:cNvSpPr/>
          <p:nvPr/>
        </p:nvSpPr>
        <p:spPr>
          <a:xfrm>
            <a:off x="7388280" y="2615040"/>
            <a:ext cx="27432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9"/>
          <p:cNvSpPr/>
          <p:nvPr/>
        </p:nvSpPr>
        <p:spPr>
          <a:xfrm>
            <a:off x="7662600" y="2148840"/>
            <a:ext cx="1443960" cy="932040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0"/>
          <p:cNvSpPr/>
          <p:nvPr/>
        </p:nvSpPr>
        <p:spPr>
          <a:xfrm>
            <a:off x="7772400" y="2240280"/>
            <a:ext cx="12247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見かけ上の成功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21"/>
          <p:cNvSpPr/>
          <p:nvPr/>
        </p:nvSpPr>
        <p:spPr>
          <a:xfrm>
            <a:off x="9107280" y="2615040"/>
            <a:ext cx="27432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22"/>
          <p:cNvSpPr/>
          <p:nvPr/>
        </p:nvSpPr>
        <p:spPr>
          <a:xfrm>
            <a:off x="9381600" y="2148840"/>
            <a:ext cx="1443960" cy="932040"/>
          </a:xfrm>
          <a:prstGeom prst="roundRect">
            <a:avLst>
              <a:gd name="adj" fmla="val 6863"/>
            </a:avLst>
          </a:prstGeom>
          <a:solidFill>
            <a:srgbClr val="FDE6E3"/>
          </a:solidFill>
          <a:ln w="12700">
            <a:solidFill>
              <a:srgbClr val="D94B3D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3"/>
          <p:cNvSpPr/>
          <p:nvPr/>
        </p:nvSpPr>
        <p:spPr>
          <a:xfrm>
            <a:off x="9491400" y="2240280"/>
            <a:ext cx="12247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設計負債が後で露出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4"/>
          <p:cNvSpPr/>
          <p:nvPr/>
        </p:nvSpPr>
        <p:spPr>
          <a:xfrm>
            <a:off x="4224600" y="3913560"/>
            <a:ext cx="6582960" cy="767520"/>
          </a:xfrm>
          <a:prstGeom prst="roundRect">
            <a:avLst>
              <a:gd name="adj" fmla="val 8333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5"/>
          <p:cNvSpPr/>
          <p:nvPr/>
        </p:nvSpPr>
        <p:spPr>
          <a:xfrm>
            <a:off x="4407480" y="4041720"/>
            <a:ext cx="62172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テストが通って動いたから</a:t>
            </a:r>
            <a:r>
              <a:rPr lang="en-US" sz="16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OK</a:t>
            </a:r>
            <a:r>
              <a:rPr lang="ja-JP" sz="16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、では設計品質を判断できない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6"/>
          <p:cNvSpPr/>
          <p:nvPr/>
        </p:nvSpPr>
        <p:spPr>
          <a:xfrm>
            <a:off x="4343400" y="5056560"/>
            <a:ext cx="99720" cy="997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7"/>
          <p:cNvSpPr/>
          <p:nvPr/>
        </p:nvSpPr>
        <p:spPr>
          <a:xfrm>
            <a:off x="4572000" y="4937760"/>
            <a:ext cx="6171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35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が強引に辻褄を合わせると、設計矛盾が隠れる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28"/>
          <p:cNvSpPr/>
          <p:nvPr/>
        </p:nvSpPr>
        <p:spPr>
          <a:xfrm>
            <a:off x="4343400" y="5459040"/>
            <a:ext cx="99720" cy="997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9"/>
          <p:cNvSpPr/>
          <p:nvPr/>
        </p:nvSpPr>
        <p:spPr>
          <a:xfrm>
            <a:off x="4572000" y="5340240"/>
            <a:ext cx="61714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5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後段ほど手戻りコストが大きくなる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0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1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06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極小</a:t>
            </a: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RAM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環境における高速コンテナ設計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RAM 32KB</a:t>
            </a: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では「一般的な実装」をそのまま選べない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背景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5"/>
          <p:cNvSpPr/>
          <p:nvPr/>
        </p:nvSpPr>
        <p:spPr>
          <a:xfrm>
            <a:off x="658440" y="1143000"/>
            <a:ext cx="10880640" cy="566280"/>
          </a:xfrm>
          <a:prstGeom prst="roundRect">
            <a:avLst>
              <a:gd name="adj" fmla="val 11290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841320" y="1271160"/>
            <a:ext cx="1051488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静的データは</a:t>
            </a:r>
            <a:r>
              <a:rPr lang="en-US" sz="16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ROM</a:t>
            </a:r>
            <a:r>
              <a:rPr lang="ja-JP" sz="16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へ。検索経路はアクセス特性で分ける。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4736520" y="1883520"/>
            <a:ext cx="2559600" cy="6577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4846320" y="1974960"/>
            <a:ext cx="2340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アクセス特性を調べる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9"/>
          <p:cNvSpPr/>
          <p:nvPr/>
        </p:nvSpPr>
        <p:spPr>
          <a:xfrm>
            <a:off x="960120" y="2871360"/>
            <a:ext cx="2605320" cy="749160"/>
          </a:xfrm>
          <a:prstGeom prst="roundRect">
            <a:avLst>
              <a:gd name="adj" fmla="val 8537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1069920" y="2962800"/>
            <a:ext cx="23857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局所性の高い検索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1"/>
          <p:cNvSpPr/>
          <p:nvPr/>
        </p:nvSpPr>
        <p:spPr>
          <a:xfrm>
            <a:off x="8503920" y="2871360"/>
            <a:ext cx="2605320" cy="749160"/>
          </a:xfrm>
          <a:prstGeom prst="roundRect">
            <a:avLst>
              <a:gd name="adj" fmla="val 8537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8613720" y="2962800"/>
            <a:ext cx="23857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広範囲に及ぶ検索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3"/>
          <p:cNvSpPr/>
          <p:nvPr/>
        </p:nvSpPr>
        <p:spPr>
          <a:xfrm flipH="1">
            <a:off x="2286000" y="2541960"/>
            <a:ext cx="2944080" cy="32904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4"/>
          <p:cNvSpPr/>
          <p:nvPr/>
        </p:nvSpPr>
        <p:spPr>
          <a:xfrm>
            <a:off x="6784560" y="2541960"/>
            <a:ext cx="3017520" cy="32904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5"/>
          <p:cNvSpPr/>
          <p:nvPr/>
        </p:nvSpPr>
        <p:spPr>
          <a:xfrm>
            <a:off x="960120" y="4096440"/>
            <a:ext cx="2605320" cy="7491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6"/>
          <p:cNvSpPr/>
          <p:nvPr/>
        </p:nvSpPr>
        <p:spPr>
          <a:xfrm>
            <a:off x="1069920" y="4187880"/>
            <a:ext cx="23857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6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XOR</a:t>
            </a:r>
            <a:r>
              <a:rPr lang="ja-JP" sz="126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キーのキャッシュ</a:t>
            </a:r>
            <a:endParaRPr lang="en-US" sz="1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7"/>
          <p:cNvSpPr/>
          <p:nvPr/>
        </p:nvSpPr>
        <p:spPr>
          <a:xfrm>
            <a:off x="8503920" y="4096440"/>
            <a:ext cx="2605320" cy="749160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8"/>
          <p:cNvSpPr/>
          <p:nvPr/>
        </p:nvSpPr>
        <p:spPr>
          <a:xfrm>
            <a:off x="8613720" y="4187880"/>
            <a:ext cx="23857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基数表で検索範囲を絞る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9"/>
          <p:cNvSpPr/>
          <p:nvPr/>
        </p:nvSpPr>
        <p:spPr>
          <a:xfrm>
            <a:off x="2258280" y="3620880"/>
            <a:ext cx="360" cy="475560"/>
          </a:xfrm>
          <a:prstGeom prst="line">
            <a:avLst/>
          </a:prstGeom>
          <a:ln w="13970">
            <a:solidFill>
              <a:srgbClr val="00A7B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0"/>
          <p:cNvSpPr/>
          <p:nvPr/>
        </p:nvSpPr>
        <p:spPr>
          <a:xfrm>
            <a:off x="9802080" y="3620880"/>
            <a:ext cx="360" cy="475560"/>
          </a:xfrm>
          <a:prstGeom prst="line">
            <a:avLst/>
          </a:prstGeom>
          <a:ln w="13970">
            <a:solidFill>
              <a:srgbClr val="F57C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1"/>
          <p:cNvSpPr/>
          <p:nvPr/>
        </p:nvSpPr>
        <p:spPr>
          <a:xfrm>
            <a:off x="4736520" y="5230440"/>
            <a:ext cx="2559600" cy="712440"/>
          </a:xfrm>
          <a:prstGeom prst="roundRect">
            <a:avLst>
              <a:gd name="adj" fmla="val 8974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2"/>
          <p:cNvSpPr/>
          <p:nvPr/>
        </p:nvSpPr>
        <p:spPr>
          <a:xfrm>
            <a:off x="4846320" y="5321880"/>
            <a:ext cx="23400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必要な経路で二分探索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3"/>
          <p:cNvSpPr/>
          <p:nvPr/>
        </p:nvSpPr>
        <p:spPr>
          <a:xfrm>
            <a:off x="2258280" y="4846320"/>
            <a:ext cx="2633760" cy="54864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4"/>
          <p:cNvSpPr/>
          <p:nvPr/>
        </p:nvSpPr>
        <p:spPr>
          <a:xfrm flipH="1">
            <a:off x="7132320" y="4846320"/>
            <a:ext cx="2669760" cy="54864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5"/>
          <p:cNvSpPr/>
          <p:nvPr/>
        </p:nvSpPr>
        <p:spPr>
          <a:xfrm>
            <a:off x="804600" y="5623560"/>
            <a:ext cx="1005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局所性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6"/>
          <p:cNvSpPr/>
          <p:nvPr/>
        </p:nvSpPr>
        <p:spPr>
          <a:xfrm>
            <a:off x="1481400" y="5623560"/>
            <a:ext cx="2376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繰り返し現れるキーを</a:t>
            </a:r>
            <a:r>
              <a:rPr lang="en-US" sz="105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O(1)</a:t>
            </a:r>
            <a:r>
              <a:rPr lang="ja-JP" sz="105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で参照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7"/>
          <p:cNvSpPr/>
          <p:nvPr/>
        </p:nvSpPr>
        <p:spPr>
          <a:xfrm>
            <a:off x="8321040" y="5559480"/>
            <a:ext cx="10051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6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広範囲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8"/>
          <p:cNvSpPr/>
          <p:nvPr/>
        </p:nvSpPr>
        <p:spPr>
          <a:xfrm>
            <a:off x="8942760" y="5504760"/>
            <a:ext cx="23310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上位数ビットの基数表で</a:t>
            </a:r>
            <a:r>
              <a:rPr lang="en-US" sz="9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O(1)</a:t>
            </a:r>
            <a:r>
              <a:rPr lang="ja-JP" sz="9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に検索範囲を絞り、必要な経路で二分探索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9"/>
          <p:cNvSpPr/>
          <p:nvPr/>
        </p:nvSpPr>
        <p:spPr>
          <a:xfrm>
            <a:off x="3401640" y="5989320"/>
            <a:ext cx="5375880" cy="419760"/>
          </a:xfrm>
          <a:prstGeom prst="roundRect">
            <a:avLst>
              <a:gd name="adj" fmla="val 15217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0"/>
          <p:cNvSpPr/>
          <p:nvPr/>
        </p:nvSpPr>
        <p:spPr>
          <a:xfrm>
            <a:off x="3584520" y="6117480"/>
            <a:ext cx="50101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採用判断は、検索頻度・キー分布・追加メモリ・速度効果を計測して決める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1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2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07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なぜ詳細仕様が必要になったか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制約 → 独自設計 → 詳細仕様という因果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背景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5"/>
          <p:cNvSpPr/>
          <p:nvPr/>
        </p:nvSpPr>
        <p:spPr>
          <a:xfrm>
            <a:off x="621720" y="1828800"/>
            <a:ext cx="1992600" cy="1023480"/>
          </a:xfrm>
          <a:prstGeom prst="roundRect">
            <a:avLst>
              <a:gd name="adj" fmla="val 6250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6"/>
          <p:cNvSpPr/>
          <p:nvPr/>
        </p:nvSpPr>
        <p:spPr>
          <a:xfrm>
            <a:off x="731520" y="1920240"/>
            <a:ext cx="177336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RAM 32KB / ROM 96KB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7"/>
          <p:cNvSpPr/>
          <p:nvPr/>
        </p:nvSpPr>
        <p:spPr>
          <a:xfrm>
            <a:off x="2615040" y="2340720"/>
            <a:ext cx="31104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8"/>
          <p:cNvSpPr/>
          <p:nvPr/>
        </p:nvSpPr>
        <p:spPr>
          <a:xfrm>
            <a:off x="2926080" y="1828800"/>
            <a:ext cx="1992600" cy="1023480"/>
          </a:xfrm>
          <a:prstGeom prst="roundRect">
            <a:avLst>
              <a:gd name="adj" fmla="val 6250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9"/>
          <p:cNvSpPr/>
          <p:nvPr/>
        </p:nvSpPr>
        <p:spPr>
          <a:xfrm>
            <a:off x="3035880" y="1920240"/>
            <a:ext cx="177336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汎用的な実装を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そのまま採用しにくい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0"/>
          <p:cNvSpPr/>
          <p:nvPr/>
        </p:nvSpPr>
        <p:spPr>
          <a:xfrm>
            <a:off x="4919400" y="2340720"/>
            <a:ext cx="31068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1"/>
          <p:cNvSpPr/>
          <p:nvPr/>
        </p:nvSpPr>
        <p:spPr>
          <a:xfrm>
            <a:off x="5230440" y="1828800"/>
            <a:ext cx="1992600" cy="1023480"/>
          </a:xfrm>
          <a:prstGeom prst="roundRect">
            <a:avLst>
              <a:gd name="adj" fmla="val 6250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2"/>
          <p:cNvSpPr/>
          <p:nvPr/>
        </p:nvSpPr>
        <p:spPr>
          <a:xfrm>
            <a:off x="5340240" y="1920240"/>
            <a:ext cx="177336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独自アルゴリズムと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データ構造が必要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3"/>
          <p:cNvSpPr/>
          <p:nvPr/>
        </p:nvSpPr>
        <p:spPr>
          <a:xfrm>
            <a:off x="7223760" y="2340720"/>
            <a:ext cx="31068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4"/>
          <p:cNvSpPr/>
          <p:nvPr/>
        </p:nvSpPr>
        <p:spPr>
          <a:xfrm>
            <a:off x="7534800" y="1828800"/>
            <a:ext cx="1992600" cy="1023480"/>
          </a:xfrm>
          <a:prstGeom prst="roundRect">
            <a:avLst>
              <a:gd name="adj" fmla="val 6250"/>
            </a:avLst>
          </a:prstGeom>
          <a:solidFill>
            <a:srgbClr val="FDE6E3"/>
          </a:solidFill>
          <a:ln w="12700">
            <a:solidFill>
              <a:srgbClr val="D94B3D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7644240" y="1920240"/>
            <a:ext cx="177336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設計複雑度が上がる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6"/>
          <p:cNvSpPr/>
          <p:nvPr/>
        </p:nvSpPr>
        <p:spPr>
          <a:xfrm>
            <a:off x="9527760" y="2340720"/>
            <a:ext cx="31104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7"/>
          <p:cNvSpPr/>
          <p:nvPr/>
        </p:nvSpPr>
        <p:spPr>
          <a:xfrm>
            <a:off x="9838800" y="1828800"/>
            <a:ext cx="1992600" cy="1023480"/>
          </a:xfrm>
          <a:prstGeom prst="roundRect">
            <a:avLst>
              <a:gd name="adj" fmla="val 6250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8"/>
          <p:cNvSpPr/>
          <p:nvPr/>
        </p:nvSpPr>
        <p:spPr>
          <a:xfrm>
            <a:off x="9948600" y="1920240"/>
            <a:ext cx="177336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詳細仕様・設計ガイドラインが必要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9"/>
          <p:cNvSpPr/>
          <p:nvPr/>
        </p:nvSpPr>
        <p:spPr>
          <a:xfrm>
            <a:off x="932760" y="3474720"/>
            <a:ext cx="10194840" cy="785520"/>
          </a:xfrm>
          <a:prstGeom prst="roundRect">
            <a:avLst>
              <a:gd name="adj" fmla="val 8140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0"/>
          <p:cNvSpPr/>
          <p:nvPr/>
        </p:nvSpPr>
        <p:spPr>
          <a:xfrm>
            <a:off x="1115640" y="3602880"/>
            <a:ext cx="9829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「高速に検索する」だけでは、キャッシュ・基数表・二分探索の選択は決まらない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1"/>
          <p:cNvSpPr/>
          <p:nvPr/>
        </p:nvSpPr>
        <p:spPr>
          <a:xfrm>
            <a:off x="914400" y="4617720"/>
            <a:ext cx="4891320" cy="1078200"/>
          </a:xfrm>
          <a:prstGeom prst="roundRect">
            <a:avLst>
              <a:gd name="adj" fmla="val 6780"/>
            </a:avLst>
          </a:prstGeom>
          <a:solidFill>
            <a:srgbClr val="FFF8F6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22"/>
          <p:cNvSpPr/>
          <p:nvPr/>
        </p:nvSpPr>
        <p:spPr>
          <a:xfrm>
            <a:off x="914400" y="4617720"/>
            <a:ext cx="49680" cy="1078200"/>
          </a:xfrm>
          <a:prstGeom prst="rect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4840" tIns="45000" rIns="2484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3"/>
          <p:cNvSpPr/>
          <p:nvPr/>
        </p:nvSpPr>
        <p:spPr>
          <a:xfrm>
            <a:off x="1060560" y="4727520"/>
            <a:ext cx="4617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がやりがちなこと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4"/>
          <p:cNvSpPr/>
          <p:nvPr/>
        </p:nvSpPr>
        <p:spPr>
          <a:xfrm>
            <a:off x="1060560" y="5056560"/>
            <a:ext cx="4617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未記述の設計判断を、一般的な実装で補間する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5"/>
          <p:cNvSpPr/>
          <p:nvPr/>
        </p:nvSpPr>
        <p:spPr>
          <a:xfrm>
            <a:off x="6355080" y="4617720"/>
            <a:ext cx="4735800" cy="1078200"/>
          </a:xfrm>
          <a:prstGeom prst="roundRect">
            <a:avLst>
              <a:gd name="adj" fmla="val 6780"/>
            </a:avLst>
          </a:prstGeom>
          <a:solidFill>
            <a:srgbClr val="F6FCF8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6"/>
          <p:cNvSpPr/>
          <p:nvPr/>
        </p:nvSpPr>
        <p:spPr>
          <a:xfrm>
            <a:off x="6355080" y="4617720"/>
            <a:ext cx="49680" cy="1078200"/>
          </a:xfrm>
          <a:prstGeom prst="rect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4840" tIns="45000" rIns="2484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7"/>
          <p:cNvSpPr/>
          <p:nvPr/>
        </p:nvSpPr>
        <p:spPr>
          <a:xfrm>
            <a:off x="6501240" y="4727520"/>
            <a:ext cx="446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必要だったこと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8"/>
          <p:cNvSpPr/>
          <p:nvPr/>
        </p:nvSpPr>
        <p:spPr>
          <a:xfrm>
            <a:off x="6501240" y="5056560"/>
            <a:ext cx="4461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r>
              <a:rPr lang="ja-JP" sz="12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固有の設計判断を仕様・ガイドラインとして明示する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9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0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08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詳細仕様を増やすと、仕様が断片化する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必要な仕様量は増える。問題は維持と伝播。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背景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658440" y="1225440"/>
            <a:ext cx="4662720" cy="50468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896040" y="1481400"/>
            <a:ext cx="2010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増えた成果物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"/>
          <p:cNvSpPr/>
          <p:nvPr/>
        </p:nvSpPr>
        <p:spPr>
          <a:xfrm>
            <a:off x="914400" y="1965960"/>
            <a:ext cx="3620160" cy="291960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996840" y="2016360"/>
            <a:ext cx="345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要求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9"/>
          <p:cNvSpPr/>
          <p:nvPr/>
        </p:nvSpPr>
        <p:spPr>
          <a:xfrm>
            <a:off x="914400" y="2487240"/>
            <a:ext cx="3620160" cy="291960"/>
          </a:xfrm>
          <a:prstGeom prst="roundRect">
            <a:avLst>
              <a:gd name="adj" fmla="val 50000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996840" y="2537640"/>
            <a:ext cx="345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コンポーネント仕様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1"/>
          <p:cNvSpPr/>
          <p:nvPr/>
        </p:nvSpPr>
        <p:spPr>
          <a:xfrm>
            <a:off x="914400" y="3008520"/>
            <a:ext cx="3620160" cy="291960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996840" y="3058560"/>
            <a:ext cx="345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HAL / </a:t>
            </a: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ポート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3"/>
          <p:cNvSpPr/>
          <p:nvPr/>
        </p:nvSpPr>
        <p:spPr>
          <a:xfrm>
            <a:off x="914400" y="3529440"/>
            <a:ext cx="3620160" cy="291960"/>
          </a:xfrm>
          <a:prstGeom prst="roundRect">
            <a:avLst>
              <a:gd name="adj" fmla="val 50000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4"/>
          <p:cNvSpPr/>
          <p:nvPr/>
        </p:nvSpPr>
        <p:spPr>
          <a:xfrm>
            <a:off x="996840" y="3579840"/>
            <a:ext cx="345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OS / IPC / </a:t>
            </a: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メモリ管理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5"/>
          <p:cNvSpPr/>
          <p:nvPr/>
        </p:nvSpPr>
        <p:spPr>
          <a:xfrm>
            <a:off x="914400" y="4050720"/>
            <a:ext cx="3620160" cy="291960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996840" y="4101120"/>
            <a:ext cx="345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WASM</a:t>
            </a: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ランタイム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7"/>
          <p:cNvSpPr/>
          <p:nvPr/>
        </p:nvSpPr>
        <p:spPr>
          <a:xfrm>
            <a:off x="914400" y="4572000"/>
            <a:ext cx="3620160" cy="291960"/>
          </a:xfrm>
          <a:prstGeom prst="roundRect">
            <a:avLst>
              <a:gd name="adj" fmla="val 50000"/>
            </a:avLst>
          </a:prstGeom>
          <a:solidFill>
            <a:srgbClr val="F2F6FA"/>
          </a:solidFill>
          <a:ln w="12700">
            <a:solidFill>
              <a:srgbClr val="F2F6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8"/>
          <p:cNvSpPr/>
          <p:nvPr/>
        </p:nvSpPr>
        <p:spPr>
          <a:xfrm>
            <a:off x="996840" y="4622400"/>
            <a:ext cx="345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JIT / </a:t>
            </a: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ドライバ </a:t>
            </a:r>
            <a:r>
              <a:rPr lang="en-US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WASI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9"/>
          <p:cNvSpPr/>
          <p:nvPr/>
        </p:nvSpPr>
        <p:spPr>
          <a:xfrm>
            <a:off x="914400" y="5093280"/>
            <a:ext cx="3620160" cy="291960"/>
          </a:xfrm>
          <a:prstGeom prst="roundRect">
            <a:avLst>
              <a:gd name="adj" fmla="val 50000"/>
            </a:avLst>
          </a:prstGeom>
          <a:solidFill>
            <a:srgbClr val="EDF4FF"/>
          </a:solidFill>
          <a:ln w="12700">
            <a:solidFill>
              <a:srgbClr val="ED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0"/>
          <p:cNvSpPr/>
          <p:nvPr/>
        </p:nvSpPr>
        <p:spPr>
          <a:xfrm>
            <a:off x="996840" y="5143680"/>
            <a:ext cx="3455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テスト・ベンチマーク・証跡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1"/>
          <p:cNvSpPr/>
          <p:nvPr/>
        </p:nvSpPr>
        <p:spPr>
          <a:xfrm>
            <a:off x="5623560" y="1225440"/>
            <a:ext cx="5915520" cy="5046840"/>
          </a:xfrm>
          <a:prstGeom prst="roundRect">
            <a:avLst>
              <a:gd name="adj" fmla="val 1630"/>
            </a:avLst>
          </a:prstGeom>
          <a:solidFill>
            <a:srgbClr val="FFF9F7"/>
          </a:solidFill>
          <a:ln w="12700">
            <a:solidFill>
              <a:srgbClr val="FDE6E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2"/>
          <p:cNvSpPr/>
          <p:nvPr/>
        </p:nvSpPr>
        <p:spPr>
          <a:xfrm>
            <a:off x="5916240" y="1481400"/>
            <a:ext cx="1690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3"/>
          <p:cNvSpPr/>
          <p:nvPr/>
        </p:nvSpPr>
        <p:spPr>
          <a:xfrm>
            <a:off x="5998320" y="1531800"/>
            <a:ext cx="15264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4"/>
          <p:cNvSpPr/>
          <p:nvPr/>
        </p:nvSpPr>
        <p:spPr>
          <a:xfrm>
            <a:off x="5916240" y="222192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5"/>
          <p:cNvSpPr/>
          <p:nvPr/>
        </p:nvSpPr>
        <p:spPr>
          <a:xfrm>
            <a:off x="6144840" y="2103120"/>
            <a:ext cx="49827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指示された文書だけ直し、関連仕様・テストへ変更を伝播しない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6"/>
          <p:cNvSpPr/>
          <p:nvPr/>
        </p:nvSpPr>
        <p:spPr>
          <a:xfrm>
            <a:off x="5916240" y="292608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7"/>
          <p:cNvSpPr/>
          <p:nvPr/>
        </p:nvSpPr>
        <p:spPr>
          <a:xfrm>
            <a:off x="6144840" y="2807280"/>
            <a:ext cx="49827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下位実装の詳細を上位仕様へ書き戻し、責務境界を崩す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8"/>
          <p:cNvSpPr/>
          <p:nvPr/>
        </p:nvSpPr>
        <p:spPr>
          <a:xfrm>
            <a:off x="5916240" y="363024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9"/>
          <p:cNvSpPr/>
          <p:nvPr/>
        </p:nvSpPr>
        <p:spPr>
          <a:xfrm>
            <a:off x="6144840" y="3511440"/>
            <a:ext cx="49827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関係しそうな文書を総当たりで触り、どこが正しいか分からなくする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30"/>
          <p:cNvSpPr/>
          <p:nvPr/>
        </p:nvSpPr>
        <p:spPr>
          <a:xfrm>
            <a:off x="5916240" y="4334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1"/>
          <p:cNvSpPr/>
          <p:nvPr/>
        </p:nvSpPr>
        <p:spPr>
          <a:xfrm>
            <a:off x="6144840" y="4215240"/>
            <a:ext cx="498276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一度「確認済み」とした成果物を変更後も再確認しない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2"/>
          <p:cNvSpPr/>
          <p:nvPr/>
        </p:nvSpPr>
        <p:spPr>
          <a:xfrm>
            <a:off x="5916240" y="5413320"/>
            <a:ext cx="5211360" cy="566280"/>
          </a:xfrm>
          <a:prstGeom prst="roundRect">
            <a:avLst>
              <a:gd name="adj" fmla="val 11290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3"/>
          <p:cNvSpPr/>
          <p:nvPr/>
        </p:nvSpPr>
        <p:spPr>
          <a:xfrm>
            <a:off x="6099120" y="5541120"/>
            <a:ext cx="48456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1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仕様は大量に必要。だからこそ、依存関係と正本を決める。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4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5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09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仕様もクリーンアーキテクチャで整理する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全部を総当たりで照合しない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背景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5"/>
          <p:cNvSpPr/>
          <p:nvPr/>
        </p:nvSpPr>
        <p:spPr>
          <a:xfrm>
            <a:off x="868680" y="1298520"/>
            <a:ext cx="4937040" cy="621000"/>
          </a:xfrm>
          <a:prstGeom prst="roundRect">
            <a:avLst>
              <a:gd name="adj" fmla="val 8824"/>
            </a:avLst>
          </a:prstGeom>
          <a:solidFill>
            <a:srgbClr val="EFF2F6"/>
          </a:solidFill>
          <a:ln w="12700">
            <a:solidFill>
              <a:srgbClr val="A7B1BE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6"/>
          <p:cNvSpPr/>
          <p:nvPr/>
        </p:nvSpPr>
        <p:spPr>
          <a:xfrm>
            <a:off x="1014840" y="1408320"/>
            <a:ext cx="2715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1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外側：ハードウェア仕様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7"/>
          <p:cNvSpPr/>
          <p:nvPr/>
        </p:nvSpPr>
        <p:spPr>
          <a:xfrm>
            <a:off x="3683160" y="1417320"/>
            <a:ext cx="19249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80" b="1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デバイス </a:t>
            </a:r>
            <a:r>
              <a:rPr lang="en-US" sz="1080" b="1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80" b="1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制約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8"/>
          <p:cNvSpPr/>
          <p:nvPr/>
        </p:nvSpPr>
        <p:spPr>
          <a:xfrm>
            <a:off x="1124640" y="2167200"/>
            <a:ext cx="4434120" cy="621000"/>
          </a:xfrm>
          <a:prstGeom prst="roundRect">
            <a:avLst>
              <a:gd name="adj" fmla="val 8824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9"/>
          <p:cNvSpPr/>
          <p:nvPr/>
        </p:nvSpPr>
        <p:spPr>
          <a:xfrm>
            <a:off x="1271160" y="2277000"/>
            <a:ext cx="24382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1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31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r>
              <a:rPr lang="ja-JP" sz="131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層仕様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0"/>
          <p:cNvSpPr/>
          <p:nvPr/>
        </p:nvSpPr>
        <p:spPr>
          <a:xfrm>
            <a:off x="3652560" y="2286000"/>
            <a:ext cx="17287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JIT / </a:t>
            </a:r>
            <a:r>
              <a:rPr lang="ja-JP" sz="108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ドライバ </a:t>
            </a:r>
            <a:r>
              <a:rPr lang="en-US" sz="108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/ WASI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1"/>
          <p:cNvSpPr/>
          <p:nvPr/>
        </p:nvSpPr>
        <p:spPr>
          <a:xfrm>
            <a:off x="1380600" y="3035880"/>
            <a:ext cx="3931200" cy="621000"/>
          </a:xfrm>
          <a:prstGeom prst="roundRect">
            <a:avLst>
              <a:gd name="adj" fmla="val 8824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2"/>
          <p:cNvSpPr/>
          <p:nvPr/>
        </p:nvSpPr>
        <p:spPr>
          <a:xfrm>
            <a:off x="1527120" y="3145680"/>
            <a:ext cx="21618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1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境界契約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3"/>
          <p:cNvSpPr/>
          <p:nvPr/>
        </p:nvSpPr>
        <p:spPr>
          <a:xfrm>
            <a:off x="3621960" y="3154680"/>
            <a:ext cx="15328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HAL / </a:t>
            </a:r>
            <a:r>
              <a:rPr lang="ja-JP" sz="108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ポート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14"/>
          <p:cNvSpPr/>
          <p:nvPr/>
        </p:nvSpPr>
        <p:spPr>
          <a:xfrm>
            <a:off x="1636920" y="3904560"/>
            <a:ext cx="3428280" cy="621000"/>
          </a:xfrm>
          <a:prstGeom prst="roundRect">
            <a:avLst>
              <a:gd name="adj" fmla="val 8824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5"/>
          <p:cNvSpPr/>
          <p:nvPr/>
        </p:nvSpPr>
        <p:spPr>
          <a:xfrm>
            <a:off x="1783080" y="4014360"/>
            <a:ext cx="18853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1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31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r>
              <a:rPr lang="ja-JP" sz="131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層仕様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6"/>
          <p:cNvSpPr/>
          <p:nvPr/>
        </p:nvSpPr>
        <p:spPr>
          <a:xfrm>
            <a:off x="3591360" y="4023360"/>
            <a:ext cx="1336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WASM</a:t>
            </a:r>
            <a:r>
              <a:rPr lang="ja-JP" sz="108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ランタイム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7"/>
          <p:cNvSpPr/>
          <p:nvPr/>
        </p:nvSpPr>
        <p:spPr>
          <a:xfrm>
            <a:off x="1892880" y="4773240"/>
            <a:ext cx="2925360" cy="621000"/>
          </a:xfrm>
          <a:prstGeom prst="roundRect">
            <a:avLst>
              <a:gd name="adj" fmla="val 8824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8"/>
          <p:cNvSpPr/>
          <p:nvPr/>
        </p:nvSpPr>
        <p:spPr>
          <a:xfrm>
            <a:off x="2039040" y="4883040"/>
            <a:ext cx="1608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1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内側：コア仕様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9"/>
          <p:cNvSpPr/>
          <p:nvPr/>
        </p:nvSpPr>
        <p:spPr>
          <a:xfrm>
            <a:off x="3560760" y="4892040"/>
            <a:ext cx="11404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OS / IPC / </a:t>
            </a:r>
            <a:r>
              <a:rPr lang="ja-JP" sz="108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メモリ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20"/>
          <p:cNvSpPr/>
          <p:nvPr/>
        </p:nvSpPr>
        <p:spPr>
          <a:xfrm>
            <a:off x="6656760" y="1444680"/>
            <a:ext cx="44341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依存方向を一方向にする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21"/>
          <p:cNvSpPr/>
          <p:nvPr/>
        </p:nvSpPr>
        <p:spPr>
          <a:xfrm>
            <a:off x="6675120" y="2167200"/>
            <a:ext cx="99720" cy="997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2"/>
          <p:cNvSpPr/>
          <p:nvPr/>
        </p:nvSpPr>
        <p:spPr>
          <a:xfrm>
            <a:off x="6903720" y="2048400"/>
            <a:ext cx="4479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正本と参照先を固定する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3"/>
          <p:cNvSpPr/>
          <p:nvPr/>
        </p:nvSpPr>
        <p:spPr>
          <a:xfrm>
            <a:off x="6675120" y="2660760"/>
            <a:ext cx="99720" cy="997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4"/>
          <p:cNvSpPr/>
          <p:nvPr/>
        </p:nvSpPr>
        <p:spPr>
          <a:xfrm>
            <a:off x="6903720" y="2541960"/>
            <a:ext cx="4479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変更影響を依存先だけに絞る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5"/>
          <p:cNvSpPr/>
          <p:nvPr/>
        </p:nvSpPr>
        <p:spPr>
          <a:xfrm>
            <a:off x="6675120" y="3154680"/>
            <a:ext cx="99720" cy="997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6"/>
          <p:cNvSpPr/>
          <p:nvPr/>
        </p:nvSpPr>
        <p:spPr>
          <a:xfrm>
            <a:off x="6903720" y="3035880"/>
            <a:ext cx="4479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下位の具体実装を上位仕様へ逆流させない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7"/>
          <p:cNvSpPr/>
          <p:nvPr/>
        </p:nvSpPr>
        <p:spPr>
          <a:xfrm>
            <a:off x="6675120" y="3648600"/>
            <a:ext cx="99720" cy="997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8"/>
          <p:cNvSpPr/>
          <p:nvPr/>
        </p:nvSpPr>
        <p:spPr>
          <a:xfrm>
            <a:off x="6903720" y="3529440"/>
            <a:ext cx="447984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同じ依存ルールを文書・コード・テストに適用する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9"/>
          <p:cNvSpPr/>
          <p:nvPr/>
        </p:nvSpPr>
        <p:spPr>
          <a:xfrm>
            <a:off x="6656760" y="4480560"/>
            <a:ext cx="4617000" cy="1041840"/>
          </a:xfrm>
          <a:prstGeom prst="roundRect">
            <a:avLst>
              <a:gd name="adj" fmla="val 6140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30"/>
          <p:cNvSpPr/>
          <p:nvPr/>
        </p:nvSpPr>
        <p:spPr>
          <a:xfrm>
            <a:off x="6839640" y="4608720"/>
            <a:ext cx="425124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N</a:t>
            </a:r>
            <a:r>
              <a:rPr lang="ja-JP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個の文書を相互に総当たりするのではなく、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依存グラフに沿って必要な箇所だけ確認する。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31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2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取り組み：個別対応ではなく、プロセスと仕組みに落とす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再発する失敗は、プロンプトではなく構造で止める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5"/>
          <p:cNvSpPr/>
          <p:nvPr/>
        </p:nvSpPr>
        <p:spPr>
          <a:xfrm>
            <a:off x="658440" y="1143000"/>
            <a:ext cx="10880640" cy="584640"/>
          </a:xfrm>
          <a:prstGeom prst="roundRect">
            <a:avLst>
              <a:gd name="adj" fmla="val 10938"/>
            </a:avLst>
          </a:prstGeom>
          <a:solidFill>
            <a:srgbClr val="FDE6E3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6"/>
          <p:cNvSpPr/>
          <p:nvPr/>
        </p:nvSpPr>
        <p:spPr>
          <a:xfrm>
            <a:off x="841320" y="1271160"/>
            <a:ext cx="10514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8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58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の間違いを見つけるたびに注意しても、同じ種類の失敗は再発する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7"/>
          <p:cNvSpPr/>
          <p:nvPr/>
        </p:nvSpPr>
        <p:spPr>
          <a:xfrm>
            <a:off x="658440" y="2030040"/>
            <a:ext cx="3016800" cy="3400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8"/>
          <p:cNvSpPr/>
          <p:nvPr/>
        </p:nvSpPr>
        <p:spPr>
          <a:xfrm>
            <a:off x="1856160" y="2267640"/>
            <a:ext cx="621000" cy="62100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9"/>
          <p:cNvSpPr/>
          <p:nvPr/>
        </p:nvSpPr>
        <p:spPr>
          <a:xfrm>
            <a:off x="1856160" y="2477880"/>
            <a:ext cx="6210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0"/>
          <p:cNvSpPr/>
          <p:nvPr/>
        </p:nvSpPr>
        <p:spPr>
          <a:xfrm>
            <a:off x="877680" y="2999160"/>
            <a:ext cx="2577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プロセス</a:t>
            </a:r>
            <a:endParaRPr lang="en-US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1"/>
          <p:cNvSpPr/>
          <p:nvPr/>
        </p:nvSpPr>
        <p:spPr>
          <a:xfrm>
            <a:off x="877680" y="3420000"/>
            <a:ext cx="25779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誰が・いつ判断するか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2"/>
          <p:cNvSpPr/>
          <p:nvPr/>
        </p:nvSpPr>
        <p:spPr>
          <a:xfrm>
            <a:off x="932760" y="4087440"/>
            <a:ext cx="99720" cy="997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3"/>
          <p:cNvSpPr/>
          <p:nvPr/>
        </p:nvSpPr>
        <p:spPr>
          <a:xfrm>
            <a:off x="1161360" y="396864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HITL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4"/>
          <p:cNvSpPr/>
          <p:nvPr/>
        </p:nvSpPr>
        <p:spPr>
          <a:xfrm>
            <a:off x="932760" y="4453200"/>
            <a:ext cx="99720" cy="997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5"/>
          <p:cNvSpPr/>
          <p:nvPr/>
        </p:nvSpPr>
        <p:spPr>
          <a:xfrm>
            <a:off x="1161360" y="433440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レビュー手順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6"/>
          <p:cNvSpPr/>
          <p:nvPr/>
        </p:nvSpPr>
        <p:spPr>
          <a:xfrm>
            <a:off x="932760" y="4818960"/>
            <a:ext cx="99720" cy="997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7"/>
          <p:cNvSpPr/>
          <p:nvPr/>
        </p:nvSpPr>
        <p:spPr>
          <a:xfrm>
            <a:off x="1161360" y="470016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検証結果を正本へ戻すフィードバック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8"/>
          <p:cNvSpPr/>
          <p:nvPr/>
        </p:nvSpPr>
        <p:spPr>
          <a:xfrm>
            <a:off x="4133160" y="2030040"/>
            <a:ext cx="3016800" cy="3400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9"/>
          <p:cNvSpPr/>
          <p:nvPr/>
        </p:nvSpPr>
        <p:spPr>
          <a:xfrm>
            <a:off x="5330880" y="2267640"/>
            <a:ext cx="621000" cy="6210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0"/>
          <p:cNvSpPr/>
          <p:nvPr/>
        </p:nvSpPr>
        <p:spPr>
          <a:xfrm>
            <a:off x="5330880" y="2477880"/>
            <a:ext cx="6210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1"/>
          <p:cNvSpPr/>
          <p:nvPr/>
        </p:nvSpPr>
        <p:spPr>
          <a:xfrm>
            <a:off x="4352400" y="2999160"/>
            <a:ext cx="2577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設計・管理の仕組み</a:t>
            </a:r>
            <a:endParaRPr lang="en-US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2"/>
          <p:cNvSpPr/>
          <p:nvPr/>
        </p:nvSpPr>
        <p:spPr>
          <a:xfrm>
            <a:off x="4352400" y="3420000"/>
            <a:ext cx="25779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何をどう関連付けるか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3"/>
          <p:cNvSpPr/>
          <p:nvPr/>
        </p:nvSpPr>
        <p:spPr>
          <a:xfrm>
            <a:off x="4407480" y="4087440"/>
            <a:ext cx="99720" cy="997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4"/>
          <p:cNvSpPr/>
          <p:nvPr/>
        </p:nvSpPr>
        <p:spPr>
          <a:xfrm>
            <a:off x="4636080" y="396864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クリーンアーキテクチャ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5"/>
          <p:cNvSpPr/>
          <p:nvPr/>
        </p:nvSpPr>
        <p:spPr>
          <a:xfrm>
            <a:off x="4407480" y="4453200"/>
            <a:ext cx="99720" cy="997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26"/>
          <p:cNvSpPr/>
          <p:nvPr/>
        </p:nvSpPr>
        <p:spPr>
          <a:xfrm>
            <a:off x="4636080" y="433440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Tier</a:t>
            </a:r>
            <a:r>
              <a:rPr lang="ja-JP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分解 </a:t>
            </a:r>
            <a:r>
              <a:rPr lang="en-US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トレーサビリティ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7"/>
          <p:cNvSpPr/>
          <p:nvPr/>
        </p:nvSpPr>
        <p:spPr>
          <a:xfrm>
            <a:off x="4407480" y="4818960"/>
            <a:ext cx="99720" cy="997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8"/>
          <p:cNvSpPr/>
          <p:nvPr/>
        </p:nvSpPr>
        <p:spPr>
          <a:xfrm>
            <a:off x="4636080" y="470016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レビュー観点のスキル化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9"/>
          <p:cNvSpPr/>
          <p:nvPr/>
        </p:nvSpPr>
        <p:spPr>
          <a:xfrm>
            <a:off x="7607880" y="2030040"/>
            <a:ext cx="3016800" cy="3400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0"/>
          <p:cNvSpPr/>
          <p:nvPr/>
        </p:nvSpPr>
        <p:spPr>
          <a:xfrm>
            <a:off x="8805600" y="2267640"/>
            <a:ext cx="621000" cy="6210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31"/>
          <p:cNvSpPr/>
          <p:nvPr/>
        </p:nvSpPr>
        <p:spPr>
          <a:xfrm>
            <a:off x="8805600" y="2477880"/>
            <a:ext cx="62100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2"/>
          <p:cNvSpPr/>
          <p:nvPr/>
        </p:nvSpPr>
        <p:spPr>
          <a:xfrm>
            <a:off x="7827120" y="2999160"/>
            <a:ext cx="2577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ツール</a:t>
            </a:r>
            <a:endParaRPr lang="en-US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33"/>
          <p:cNvSpPr/>
          <p:nvPr/>
        </p:nvSpPr>
        <p:spPr>
          <a:xfrm>
            <a:off x="7827120" y="3420000"/>
            <a:ext cx="25779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何を機械的に強制するか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34"/>
          <p:cNvSpPr/>
          <p:nvPr/>
        </p:nvSpPr>
        <p:spPr>
          <a:xfrm>
            <a:off x="7882200" y="4087440"/>
            <a:ext cx="99720" cy="997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35"/>
          <p:cNvSpPr/>
          <p:nvPr/>
        </p:nvSpPr>
        <p:spPr>
          <a:xfrm>
            <a:off x="8110800" y="396864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仕様・設計・証跡の自動検証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36"/>
          <p:cNvSpPr/>
          <p:nvPr/>
        </p:nvSpPr>
        <p:spPr>
          <a:xfrm>
            <a:off x="7882200" y="4453200"/>
            <a:ext cx="99720" cy="997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37"/>
          <p:cNvSpPr/>
          <p:nvPr/>
        </p:nvSpPr>
        <p:spPr>
          <a:xfrm>
            <a:off x="8110800" y="433440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AST / GiNZA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38"/>
          <p:cNvSpPr/>
          <p:nvPr/>
        </p:nvSpPr>
        <p:spPr>
          <a:xfrm>
            <a:off x="7882200" y="4818960"/>
            <a:ext cx="99720" cy="997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39"/>
          <p:cNvSpPr/>
          <p:nvPr/>
        </p:nvSpPr>
        <p:spPr>
          <a:xfrm>
            <a:off x="8110800" y="470016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テスト </a:t>
            </a:r>
            <a:r>
              <a:rPr lang="en-US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1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ベンチマーク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40"/>
          <p:cNvSpPr/>
          <p:nvPr/>
        </p:nvSpPr>
        <p:spPr>
          <a:xfrm>
            <a:off x="1627560" y="5760720"/>
            <a:ext cx="8960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中核：クリーンアーキテクチャ </a:t>
            </a:r>
            <a:r>
              <a:rPr lang="en-US" sz="16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× </a:t>
            </a:r>
            <a:r>
              <a:rPr lang="ja-JP" sz="16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トレーサビリティ </a:t>
            </a:r>
            <a:r>
              <a:rPr lang="en-US" sz="16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× HITL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41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42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クリーンアーキテクチャを検査ルールにする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依存方向を「説明」ではなく「検査可能な規則」にする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5"/>
          <p:cNvSpPr/>
          <p:nvPr/>
        </p:nvSpPr>
        <p:spPr>
          <a:xfrm>
            <a:off x="841320" y="1261800"/>
            <a:ext cx="3931200" cy="657720"/>
          </a:xfrm>
          <a:prstGeom prst="roundRect">
            <a:avLst>
              <a:gd name="adj" fmla="val 9722"/>
            </a:avLst>
          </a:prstGeom>
          <a:solidFill>
            <a:srgbClr val="E8EDF3"/>
          </a:solidFill>
          <a:ln w="12700">
            <a:solidFill>
              <a:srgbClr val="A7B1BE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6"/>
          <p:cNvSpPr/>
          <p:nvPr/>
        </p:nvSpPr>
        <p:spPr>
          <a:xfrm>
            <a:off x="951120" y="1353240"/>
            <a:ext cx="3711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ハードウェア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RAM / ROM / 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デバイス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7"/>
          <p:cNvSpPr/>
          <p:nvPr/>
        </p:nvSpPr>
        <p:spPr>
          <a:xfrm>
            <a:off x="2806920" y="1920240"/>
            <a:ext cx="360" cy="18288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8"/>
          <p:cNvSpPr/>
          <p:nvPr/>
        </p:nvSpPr>
        <p:spPr>
          <a:xfrm>
            <a:off x="841320" y="2103120"/>
            <a:ext cx="3931200" cy="657720"/>
          </a:xfrm>
          <a:prstGeom prst="roundRect">
            <a:avLst>
              <a:gd name="adj" fmla="val 9722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9"/>
          <p:cNvSpPr/>
          <p:nvPr/>
        </p:nvSpPr>
        <p:spPr>
          <a:xfrm>
            <a:off x="951120" y="2194560"/>
            <a:ext cx="3711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JIT / 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ドライバ </a:t>
            </a: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/ WASI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0"/>
          <p:cNvSpPr/>
          <p:nvPr/>
        </p:nvSpPr>
        <p:spPr>
          <a:xfrm>
            <a:off x="2806920" y="2761200"/>
            <a:ext cx="360" cy="18288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1"/>
          <p:cNvSpPr/>
          <p:nvPr/>
        </p:nvSpPr>
        <p:spPr>
          <a:xfrm>
            <a:off x="841320" y="2944440"/>
            <a:ext cx="3931200" cy="657720"/>
          </a:xfrm>
          <a:prstGeom prst="roundRect">
            <a:avLst>
              <a:gd name="adj" fmla="val 9722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2"/>
          <p:cNvSpPr/>
          <p:nvPr/>
        </p:nvSpPr>
        <p:spPr>
          <a:xfrm>
            <a:off x="951120" y="3035880"/>
            <a:ext cx="3711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HAL / 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ポート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境界契約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3"/>
          <p:cNvSpPr/>
          <p:nvPr/>
        </p:nvSpPr>
        <p:spPr>
          <a:xfrm>
            <a:off x="2806920" y="3602520"/>
            <a:ext cx="360" cy="18288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4"/>
          <p:cNvSpPr/>
          <p:nvPr/>
        </p:nvSpPr>
        <p:spPr>
          <a:xfrm>
            <a:off x="841320" y="3785760"/>
            <a:ext cx="3931200" cy="657720"/>
          </a:xfrm>
          <a:prstGeom prst="roundRect">
            <a:avLst>
              <a:gd name="adj" fmla="val 9722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5"/>
          <p:cNvSpPr/>
          <p:nvPr/>
        </p:nvSpPr>
        <p:spPr>
          <a:xfrm>
            <a:off x="951120" y="3877200"/>
            <a:ext cx="3711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WASM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ランタイム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6"/>
          <p:cNvSpPr/>
          <p:nvPr/>
        </p:nvSpPr>
        <p:spPr>
          <a:xfrm>
            <a:off x="2806920" y="4443840"/>
            <a:ext cx="360" cy="18288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7"/>
          <p:cNvSpPr/>
          <p:nvPr/>
        </p:nvSpPr>
        <p:spPr>
          <a:xfrm>
            <a:off x="841320" y="4626720"/>
            <a:ext cx="3931200" cy="657720"/>
          </a:xfrm>
          <a:prstGeom prst="roundRect">
            <a:avLst>
              <a:gd name="adj" fmla="val 9722"/>
            </a:avLst>
          </a:prstGeom>
          <a:solidFill>
            <a:srgbClr val="E8EDF3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8"/>
          <p:cNvSpPr/>
          <p:nvPr/>
        </p:nvSpPr>
        <p:spPr>
          <a:xfrm>
            <a:off x="951120" y="4718160"/>
            <a:ext cx="37116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OS / IPC / 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メモリ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9"/>
          <p:cNvSpPr/>
          <p:nvPr/>
        </p:nvSpPr>
        <p:spPr>
          <a:xfrm>
            <a:off x="5596200" y="141732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8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検査すること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20"/>
          <p:cNvSpPr/>
          <p:nvPr/>
        </p:nvSpPr>
        <p:spPr>
          <a:xfrm>
            <a:off x="5596200" y="1938600"/>
            <a:ext cx="5531400" cy="932040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21"/>
          <p:cNvSpPr/>
          <p:nvPr/>
        </p:nvSpPr>
        <p:spPr>
          <a:xfrm>
            <a:off x="5760720" y="2103120"/>
            <a:ext cx="200520" cy="2005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22"/>
          <p:cNvSpPr/>
          <p:nvPr/>
        </p:nvSpPr>
        <p:spPr>
          <a:xfrm>
            <a:off x="6053400" y="2084760"/>
            <a:ext cx="4909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逆依存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3"/>
          <p:cNvSpPr/>
          <p:nvPr/>
        </p:nvSpPr>
        <p:spPr>
          <a:xfrm>
            <a:off x="5760720" y="2432160"/>
            <a:ext cx="5202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内側から外側の具象実装へ依存していないか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24"/>
          <p:cNvSpPr/>
          <p:nvPr/>
        </p:nvSpPr>
        <p:spPr>
          <a:xfrm>
            <a:off x="5596200" y="3127320"/>
            <a:ext cx="5531400" cy="932040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25"/>
          <p:cNvSpPr/>
          <p:nvPr/>
        </p:nvSpPr>
        <p:spPr>
          <a:xfrm>
            <a:off x="5760720" y="3291840"/>
            <a:ext cx="200520" cy="2005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6"/>
          <p:cNvSpPr/>
          <p:nvPr/>
        </p:nvSpPr>
        <p:spPr>
          <a:xfrm>
            <a:off x="6053400" y="3273480"/>
            <a:ext cx="4909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境界越え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27"/>
          <p:cNvSpPr/>
          <p:nvPr/>
        </p:nvSpPr>
        <p:spPr>
          <a:xfrm>
            <a:off x="5760720" y="3620880"/>
            <a:ext cx="5202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HAL 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ポートなど安定した契約を介しているか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8"/>
          <p:cNvSpPr/>
          <p:nvPr/>
        </p:nvSpPr>
        <p:spPr>
          <a:xfrm>
            <a:off x="5596200" y="4316040"/>
            <a:ext cx="5531400" cy="932040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29"/>
          <p:cNvSpPr/>
          <p:nvPr/>
        </p:nvSpPr>
        <p:spPr>
          <a:xfrm>
            <a:off x="5760720" y="4480560"/>
            <a:ext cx="200520" cy="2005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30"/>
          <p:cNvSpPr/>
          <p:nvPr/>
        </p:nvSpPr>
        <p:spPr>
          <a:xfrm>
            <a:off x="6053400" y="4462200"/>
            <a:ext cx="49096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文書にも適用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31"/>
          <p:cNvSpPr/>
          <p:nvPr/>
        </p:nvSpPr>
        <p:spPr>
          <a:xfrm>
            <a:off x="5760720" y="4809600"/>
            <a:ext cx="5202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仕様・設計・コード・テストで同じ方向を守る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2"/>
          <p:cNvSpPr/>
          <p:nvPr/>
        </p:nvSpPr>
        <p:spPr>
          <a:xfrm>
            <a:off x="5623560" y="5559480"/>
            <a:ext cx="5485680" cy="566280"/>
          </a:xfrm>
          <a:prstGeom prst="roundRect">
            <a:avLst>
              <a:gd name="adj" fmla="val 11290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3"/>
          <p:cNvSpPr/>
          <p:nvPr/>
        </p:nvSpPr>
        <p:spPr>
          <a:xfrm>
            <a:off x="5806440" y="5687640"/>
            <a:ext cx="51199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アーキテクチャ図をレビュー時に実行できるチェックリストへ変える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34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35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12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トレーサビリティとは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要求・仕様・設計・実装・テストを前後にたどれる状態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5"/>
          <p:cNvSpPr/>
          <p:nvPr/>
        </p:nvSpPr>
        <p:spPr>
          <a:xfrm>
            <a:off x="685800" y="1572840"/>
            <a:ext cx="175500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6"/>
          <p:cNvSpPr/>
          <p:nvPr/>
        </p:nvSpPr>
        <p:spPr>
          <a:xfrm>
            <a:off x="795600" y="1664280"/>
            <a:ext cx="15354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要求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7"/>
          <p:cNvSpPr/>
          <p:nvPr/>
        </p:nvSpPr>
        <p:spPr>
          <a:xfrm>
            <a:off x="2441160" y="1965960"/>
            <a:ext cx="548640" cy="360"/>
          </a:xfrm>
          <a:prstGeom prst="line">
            <a:avLst/>
          </a:prstGeom>
          <a:ln w="1524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8"/>
          <p:cNvSpPr/>
          <p:nvPr/>
        </p:nvSpPr>
        <p:spPr>
          <a:xfrm>
            <a:off x="2990160" y="1572840"/>
            <a:ext cx="175500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9"/>
          <p:cNvSpPr/>
          <p:nvPr/>
        </p:nvSpPr>
        <p:spPr>
          <a:xfrm>
            <a:off x="3099960" y="1664280"/>
            <a:ext cx="15354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0"/>
          <p:cNvSpPr/>
          <p:nvPr/>
        </p:nvSpPr>
        <p:spPr>
          <a:xfrm>
            <a:off x="4745520" y="1965960"/>
            <a:ext cx="548640" cy="360"/>
          </a:xfrm>
          <a:prstGeom prst="line">
            <a:avLst/>
          </a:prstGeom>
          <a:ln w="1524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1"/>
          <p:cNvSpPr/>
          <p:nvPr/>
        </p:nvSpPr>
        <p:spPr>
          <a:xfrm>
            <a:off x="5294520" y="1572840"/>
            <a:ext cx="175500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2"/>
          <p:cNvSpPr/>
          <p:nvPr/>
        </p:nvSpPr>
        <p:spPr>
          <a:xfrm>
            <a:off x="5403960" y="1664280"/>
            <a:ext cx="15354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3"/>
          <p:cNvSpPr/>
          <p:nvPr/>
        </p:nvSpPr>
        <p:spPr>
          <a:xfrm>
            <a:off x="7049880" y="1965960"/>
            <a:ext cx="548640" cy="360"/>
          </a:xfrm>
          <a:prstGeom prst="line">
            <a:avLst/>
          </a:prstGeom>
          <a:ln w="1524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4"/>
          <p:cNvSpPr/>
          <p:nvPr/>
        </p:nvSpPr>
        <p:spPr>
          <a:xfrm>
            <a:off x="7598520" y="1572840"/>
            <a:ext cx="175500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5"/>
          <p:cNvSpPr/>
          <p:nvPr/>
        </p:nvSpPr>
        <p:spPr>
          <a:xfrm>
            <a:off x="7708320" y="1664280"/>
            <a:ext cx="15354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実装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6"/>
          <p:cNvSpPr/>
          <p:nvPr/>
        </p:nvSpPr>
        <p:spPr>
          <a:xfrm>
            <a:off x="9354240" y="1965960"/>
            <a:ext cx="548640" cy="360"/>
          </a:xfrm>
          <a:prstGeom prst="line">
            <a:avLst/>
          </a:prstGeom>
          <a:ln w="1524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7"/>
          <p:cNvSpPr/>
          <p:nvPr/>
        </p:nvSpPr>
        <p:spPr>
          <a:xfrm>
            <a:off x="9902880" y="1572840"/>
            <a:ext cx="175500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7B61C9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8"/>
          <p:cNvSpPr/>
          <p:nvPr/>
        </p:nvSpPr>
        <p:spPr>
          <a:xfrm>
            <a:off x="10012680" y="1664280"/>
            <a:ext cx="153540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テスト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9"/>
          <p:cNvSpPr/>
          <p:nvPr/>
        </p:nvSpPr>
        <p:spPr>
          <a:xfrm>
            <a:off x="685800" y="3063240"/>
            <a:ext cx="522972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20"/>
          <p:cNvSpPr/>
          <p:nvPr/>
        </p:nvSpPr>
        <p:spPr>
          <a:xfrm>
            <a:off x="685800" y="3063240"/>
            <a:ext cx="49680" cy="1005120"/>
          </a:xfrm>
          <a:prstGeom prst="rect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4840" tIns="45000" rIns="2484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1"/>
          <p:cNvSpPr/>
          <p:nvPr/>
        </p:nvSpPr>
        <p:spPr>
          <a:xfrm>
            <a:off x="831960" y="3173040"/>
            <a:ext cx="495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この要求はどこへ伝わったか？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2"/>
          <p:cNvSpPr/>
          <p:nvPr/>
        </p:nvSpPr>
        <p:spPr>
          <a:xfrm>
            <a:off x="831960" y="3502080"/>
            <a:ext cx="4955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上流 → 下流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23"/>
          <p:cNvSpPr/>
          <p:nvPr/>
        </p:nvSpPr>
        <p:spPr>
          <a:xfrm>
            <a:off x="6190560" y="3063240"/>
            <a:ext cx="522972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24"/>
          <p:cNvSpPr/>
          <p:nvPr/>
        </p:nvSpPr>
        <p:spPr>
          <a:xfrm>
            <a:off x="6190560" y="3063240"/>
            <a:ext cx="49680" cy="100512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4840" tIns="45000" rIns="2484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25"/>
          <p:cNvSpPr/>
          <p:nvPr/>
        </p:nvSpPr>
        <p:spPr>
          <a:xfrm>
            <a:off x="6336720" y="3173040"/>
            <a:ext cx="495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この実装は何の要求に基づくか？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26"/>
          <p:cNvSpPr/>
          <p:nvPr/>
        </p:nvSpPr>
        <p:spPr>
          <a:xfrm>
            <a:off x="6336720" y="3502080"/>
            <a:ext cx="4955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下流 → 上流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27"/>
          <p:cNvSpPr/>
          <p:nvPr/>
        </p:nvSpPr>
        <p:spPr>
          <a:xfrm>
            <a:off x="685800" y="4343400"/>
            <a:ext cx="522972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28"/>
          <p:cNvSpPr/>
          <p:nvPr/>
        </p:nvSpPr>
        <p:spPr>
          <a:xfrm>
            <a:off x="685800" y="4343400"/>
            <a:ext cx="49680" cy="10051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4840" tIns="45000" rIns="2484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29"/>
          <p:cNvSpPr/>
          <p:nvPr/>
        </p:nvSpPr>
        <p:spPr>
          <a:xfrm>
            <a:off x="831960" y="4453200"/>
            <a:ext cx="495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この変更で何が影響を受けるか？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30"/>
          <p:cNvSpPr/>
          <p:nvPr/>
        </p:nvSpPr>
        <p:spPr>
          <a:xfrm>
            <a:off x="831960" y="4782240"/>
            <a:ext cx="4955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変更影響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31"/>
          <p:cNvSpPr/>
          <p:nvPr/>
        </p:nvSpPr>
        <p:spPr>
          <a:xfrm>
            <a:off x="6190560" y="4343400"/>
            <a:ext cx="5229720" cy="10051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32"/>
          <p:cNvSpPr/>
          <p:nvPr/>
        </p:nvSpPr>
        <p:spPr>
          <a:xfrm>
            <a:off x="6190560" y="4343400"/>
            <a:ext cx="49680" cy="1005120"/>
          </a:xfrm>
          <a:prstGeom prst="rect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4840" tIns="45000" rIns="2484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33"/>
          <p:cNvSpPr/>
          <p:nvPr/>
        </p:nvSpPr>
        <p:spPr>
          <a:xfrm>
            <a:off x="6336720" y="4453200"/>
            <a:ext cx="495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このテストは何を保証しているか？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34"/>
          <p:cNvSpPr/>
          <p:nvPr/>
        </p:nvSpPr>
        <p:spPr>
          <a:xfrm>
            <a:off x="6336720" y="4782240"/>
            <a:ext cx="4955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5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証跡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35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36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13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でのトレーサビリティ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共通キーワードで要求からテストまで追跡する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5"/>
          <p:cNvSpPr/>
          <p:nvPr/>
        </p:nvSpPr>
        <p:spPr>
          <a:xfrm>
            <a:off x="841320" y="1901880"/>
            <a:ext cx="2513880" cy="1078200"/>
          </a:xfrm>
          <a:prstGeom prst="roundRect">
            <a:avLst>
              <a:gd name="adj" fmla="val 5932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6"/>
          <p:cNvSpPr/>
          <p:nvPr/>
        </p:nvSpPr>
        <p:spPr>
          <a:xfrm>
            <a:off x="951120" y="1993320"/>
            <a:ext cx="229428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要求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#REQ-001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7"/>
          <p:cNvSpPr/>
          <p:nvPr/>
        </p:nvSpPr>
        <p:spPr>
          <a:xfrm>
            <a:off x="4837320" y="1901880"/>
            <a:ext cx="2513880" cy="1078200"/>
          </a:xfrm>
          <a:prstGeom prst="roundRect">
            <a:avLst>
              <a:gd name="adj" fmla="val 5932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8"/>
          <p:cNvSpPr/>
          <p:nvPr/>
        </p:nvSpPr>
        <p:spPr>
          <a:xfrm>
            <a:off x="4946760" y="1993320"/>
            <a:ext cx="229428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 </a:t>
            </a:r>
            <a:r>
              <a:rPr lang="en-US" sz="14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4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参照</a:t>
            </a:r>
            <a:r>
              <a:rPr lang="en-US" sz="14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: #REQ-001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9"/>
          <p:cNvSpPr/>
          <p:nvPr/>
        </p:nvSpPr>
        <p:spPr>
          <a:xfrm>
            <a:off x="8832960" y="1901880"/>
            <a:ext cx="2513880" cy="1078200"/>
          </a:xfrm>
          <a:prstGeom prst="roundRect">
            <a:avLst>
              <a:gd name="adj" fmla="val 5932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0"/>
          <p:cNvSpPr/>
          <p:nvPr/>
        </p:nvSpPr>
        <p:spPr>
          <a:xfrm>
            <a:off x="8942760" y="1993320"/>
            <a:ext cx="2294280" cy="8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テスト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検証</a:t>
            </a:r>
            <a:r>
              <a:rPr lang="en-US" sz="14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: #REQ-001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1"/>
          <p:cNvSpPr/>
          <p:nvPr/>
        </p:nvSpPr>
        <p:spPr>
          <a:xfrm>
            <a:off x="3355560" y="2441160"/>
            <a:ext cx="1481400" cy="360"/>
          </a:xfrm>
          <a:prstGeom prst="line">
            <a:avLst/>
          </a:prstGeom>
          <a:ln w="1524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2"/>
          <p:cNvSpPr/>
          <p:nvPr/>
        </p:nvSpPr>
        <p:spPr>
          <a:xfrm>
            <a:off x="7351560" y="2441160"/>
            <a:ext cx="1481400" cy="360"/>
          </a:xfrm>
          <a:prstGeom prst="line">
            <a:avLst/>
          </a:prstGeom>
          <a:ln w="1524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3"/>
          <p:cNvSpPr/>
          <p:nvPr/>
        </p:nvSpPr>
        <p:spPr>
          <a:xfrm>
            <a:off x="859680" y="3730680"/>
            <a:ext cx="20109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機械的に確認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4"/>
          <p:cNvSpPr/>
          <p:nvPr/>
        </p:nvSpPr>
        <p:spPr>
          <a:xfrm>
            <a:off x="841320" y="4160520"/>
            <a:ext cx="52297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5"/>
          <p:cNvSpPr/>
          <p:nvPr/>
        </p:nvSpPr>
        <p:spPr>
          <a:xfrm>
            <a:off x="1005840" y="4325040"/>
            <a:ext cx="200520" cy="2005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6"/>
          <p:cNvSpPr/>
          <p:nvPr/>
        </p:nvSpPr>
        <p:spPr>
          <a:xfrm>
            <a:off x="1298520" y="4306680"/>
            <a:ext cx="4608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1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未定義キーワード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7"/>
          <p:cNvSpPr/>
          <p:nvPr/>
        </p:nvSpPr>
        <p:spPr>
          <a:xfrm>
            <a:off x="1005840" y="4654440"/>
            <a:ext cx="490032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47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8"/>
          <p:cNvSpPr/>
          <p:nvPr/>
        </p:nvSpPr>
        <p:spPr>
          <a:xfrm>
            <a:off x="6346080" y="4160520"/>
            <a:ext cx="52297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9"/>
          <p:cNvSpPr/>
          <p:nvPr/>
        </p:nvSpPr>
        <p:spPr>
          <a:xfrm>
            <a:off x="6510600" y="4325040"/>
            <a:ext cx="200520" cy="2005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0"/>
          <p:cNvSpPr/>
          <p:nvPr/>
        </p:nvSpPr>
        <p:spPr>
          <a:xfrm>
            <a:off x="6803280" y="4306680"/>
            <a:ext cx="4608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2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存在しないリンク先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2"/>
          <p:cNvSpPr/>
          <p:nvPr/>
        </p:nvSpPr>
        <p:spPr>
          <a:xfrm>
            <a:off x="841320" y="5093280"/>
            <a:ext cx="52297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23"/>
          <p:cNvSpPr/>
          <p:nvPr/>
        </p:nvSpPr>
        <p:spPr>
          <a:xfrm>
            <a:off x="1005840" y="5257800"/>
            <a:ext cx="200520" cy="2005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4"/>
          <p:cNvSpPr/>
          <p:nvPr/>
        </p:nvSpPr>
        <p:spPr>
          <a:xfrm>
            <a:off x="1298520" y="5239440"/>
            <a:ext cx="4608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3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要求→仕様→テストの追跡経路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6"/>
          <p:cNvSpPr/>
          <p:nvPr/>
        </p:nvSpPr>
        <p:spPr>
          <a:xfrm>
            <a:off x="6346080" y="5093280"/>
            <a:ext cx="522972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7"/>
          <p:cNvSpPr/>
          <p:nvPr/>
        </p:nvSpPr>
        <p:spPr>
          <a:xfrm>
            <a:off x="6510600" y="5257800"/>
            <a:ext cx="200520" cy="2005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8"/>
          <p:cNvSpPr/>
          <p:nvPr/>
        </p:nvSpPr>
        <p:spPr>
          <a:xfrm>
            <a:off x="6803280" y="5239440"/>
            <a:ext cx="4608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4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参照先の陳腐化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未伝播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0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31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14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取り組み：</a:t>
            </a: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HITL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で判断主体を分ける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機械判定・意味判断・最終責任を分離する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5"/>
          <p:cNvSpPr/>
          <p:nvPr/>
        </p:nvSpPr>
        <p:spPr>
          <a:xfrm>
            <a:off x="567000" y="1170360"/>
            <a:ext cx="3656880" cy="4982760"/>
          </a:xfrm>
          <a:prstGeom prst="roundRect">
            <a:avLst>
              <a:gd name="adj" fmla="val 2250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6"/>
          <p:cNvSpPr/>
          <p:nvPr/>
        </p:nvSpPr>
        <p:spPr>
          <a:xfrm>
            <a:off x="768240" y="1371600"/>
            <a:ext cx="1681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7"/>
          <p:cNvSpPr/>
          <p:nvPr/>
        </p:nvSpPr>
        <p:spPr>
          <a:xfrm>
            <a:off x="850320" y="1422000"/>
            <a:ext cx="1517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8"/>
          <p:cNvSpPr/>
          <p:nvPr/>
        </p:nvSpPr>
        <p:spPr>
          <a:xfrm>
            <a:off x="795600" y="2066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9"/>
          <p:cNvSpPr/>
          <p:nvPr/>
        </p:nvSpPr>
        <p:spPr>
          <a:xfrm>
            <a:off x="1024200" y="1947600"/>
            <a:ext cx="29710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実際には実行していない検査を「確認済み」と扱う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0"/>
          <p:cNvSpPr/>
          <p:nvPr/>
        </p:nvSpPr>
        <p:spPr>
          <a:xfrm>
            <a:off x="795600" y="2624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1"/>
          <p:cNvSpPr/>
          <p:nvPr/>
        </p:nvSpPr>
        <p:spPr>
          <a:xfrm>
            <a:off x="1024200" y="2505600"/>
            <a:ext cx="29710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警告や未確認項目を自分の判断で問題なしとする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2"/>
          <p:cNvSpPr/>
          <p:nvPr/>
        </p:nvSpPr>
        <p:spPr>
          <a:xfrm>
            <a:off x="795600" y="318204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3"/>
          <p:cNvSpPr/>
          <p:nvPr/>
        </p:nvSpPr>
        <p:spPr>
          <a:xfrm>
            <a:off x="1024200" y="3063240"/>
            <a:ext cx="29710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意味判断と機械判定を同じレビューで済ませる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4"/>
          <p:cNvSpPr/>
          <p:nvPr/>
        </p:nvSpPr>
        <p:spPr>
          <a:xfrm>
            <a:off x="4498920" y="1188720"/>
            <a:ext cx="71132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対策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5"/>
          <p:cNvSpPr/>
          <p:nvPr/>
        </p:nvSpPr>
        <p:spPr>
          <a:xfrm>
            <a:off x="4498920" y="1417320"/>
            <a:ext cx="7113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HITL</a:t>
            </a: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で判断主体を分ける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6"/>
          <p:cNvSpPr/>
          <p:nvPr/>
        </p:nvSpPr>
        <p:spPr>
          <a:xfrm>
            <a:off x="4498920" y="1993320"/>
            <a:ext cx="2029320" cy="25779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7"/>
          <p:cNvSpPr/>
          <p:nvPr/>
        </p:nvSpPr>
        <p:spPr>
          <a:xfrm>
            <a:off x="5212080" y="2267640"/>
            <a:ext cx="602640" cy="60264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8"/>
          <p:cNvSpPr/>
          <p:nvPr/>
        </p:nvSpPr>
        <p:spPr>
          <a:xfrm>
            <a:off x="5212080" y="2468880"/>
            <a:ext cx="602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9"/>
          <p:cNvSpPr/>
          <p:nvPr/>
        </p:nvSpPr>
        <p:spPr>
          <a:xfrm>
            <a:off x="4700160" y="3035880"/>
            <a:ext cx="1626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8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ツール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0"/>
          <p:cNvSpPr/>
          <p:nvPr/>
        </p:nvSpPr>
        <p:spPr>
          <a:xfrm>
            <a:off x="4700160" y="3420000"/>
            <a:ext cx="16268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4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機械判定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1"/>
          <p:cNvSpPr/>
          <p:nvPr/>
        </p:nvSpPr>
        <p:spPr>
          <a:xfrm>
            <a:off x="4718160" y="3877200"/>
            <a:ext cx="15904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リンク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構文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AST 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依存方向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2"/>
          <p:cNvSpPr/>
          <p:nvPr/>
        </p:nvSpPr>
        <p:spPr>
          <a:xfrm>
            <a:off x="6528600" y="3246120"/>
            <a:ext cx="29268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23"/>
          <p:cNvSpPr/>
          <p:nvPr/>
        </p:nvSpPr>
        <p:spPr>
          <a:xfrm>
            <a:off x="6821280" y="1993320"/>
            <a:ext cx="2029320" cy="25779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4"/>
          <p:cNvSpPr/>
          <p:nvPr/>
        </p:nvSpPr>
        <p:spPr>
          <a:xfrm>
            <a:off x="7534800" y="2267640"/>
            <a:ext cx="602640" cy="60264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5"/>
          <p:cNvSpPr/>
          <p:nvPr/>
        </p:nvSpPr>
        <p:spPr>
          <a:xfrm>
            <a:off x="7534800" y="2468880"/>
            <a:ext cx="602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6"/>
          <p:cNvSpPr/>
          <p:nvPr/>
        </p:nvSpPr>
        <p:spPr>
          <a:xfrm>
            <a:off x="7022520" y="3035880"/>
            <a:ext cx="1626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7"/>
          <p:cNvSpPr/>
          <p:nvPr/>
        </p:nvSpPr>
        <p:spPr>
          <a:xfrm>
            <a:off x="7022520" y="3420000"/>
            <a:ext cx="16268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4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意味レビュー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8"/>
          <p:cNvSpPr/>
          <p:nvPr/>
        </p:nvSpPr>
        <p:spPr>
          <a:xfrm>
            <a:off x="7040880" y="3877200"/>
            <a:ext cx="15904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定義済み観点で成果物を比較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29"/>
          <p:cNvSpPr/>
          <p:nvPr/>
        </p:nvSpPr>
        <p:spPr>
          <a:xfrm>
            <a:off x="8851320" y="3246120"/>
            <a:ext cx="29268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30"/>
          <p:cNvSpPr/>
          <p:nvPr/>
        </p:nvSpPr>
        <p:spPr>
          <a:xfrm>
            <a:off x="9144000" y="1993320"/>
            <a:ext cx="2029320" cy="257796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31"/>
          <p:cNvSpPr/>
          <p:nvPr/>
        </p:nvSpPr>
        <p:spPr>
          <a:xfrm>
            <a:off x="9857160" y="2267640"/>
            <a:ext cx="602640" cy="6026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2"/>
          <p:cNvSpPr/>
          <p:nvPr/>
        </p:nvSpPr>
        <p:spPr>
          <a:xfrm>
            <a:off x="9857160" y="2468880"/>
            <a:ext cx="602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33"/>
          <p:cNvSpPr/>
          <p:nvPr/>
        </p:nvSpPr>
        <p:spPr>
          <a:xfrm>
            <a:off x="9345240" y="3035880"/>
            <a:ext cx="1626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8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人間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34"/>
          <p:cNvSpPr/>
          <p:nvPr/>
        </p:nvSpPr>
        <p:spPr>
          <a:xfrm>
            <a:off x="9345240" y="3420000"/>
            <a:ext cx="16268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4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責任主体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35"/>
          <p:cNvSpPr/>
          <p:nvPr/>
        </p:nvSpPr>
        <p:spPr>
          <a:xfrm>
            <a:off x="9363600" y="3877200"/>
            <a:ext cx="15904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設計意図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例外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最終判断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36"/>
          <p:cNvSpPr/>
          <p:nvPr/>
        </p:nvSpPr>
        <p:spPr>
          <a:xfrm>
            <a:off x="4498920" y="5074920"/>
            <a:ext cx="6967080" cy="767520"/>
          </a:xfrm>
          <a:prstGeom prst="roundRect">
            <a:avLst>
              <a:gd name="adj" fmla="val 8333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37"/>
          <p:cNvSpPr/>
          <p:nvPr/>
        </p:nvSpPr>
        <p:spPr>
          <a:xfrm>
            <a:off x="4681800" y="5203080"/>
            <a:ext cx="66013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機械的に確認できることはツールに寄せ、意味判断と最終責任は人間に残す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38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39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取り組み：レビュー観点をプロジェクト内に固定する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「レビューして」では観点が毎回ぶれる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5"/>
          <p:cNvSpPr/>
          <p:nvPr/>
        </p:nvSpPr>
        <p:spPr>
          <a:xfrm>
            <a:off x="567000" y="1170360"/>
            <a:ext cx="3199680" cy="4982760"/>
          </a:xfrm>
          <a:prstGeom prst="roundRect">
            <a:avLst>
              <a:gd name="adj" fmla="val 2571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6"/>
          <p:cNvSpPr/>
          <p:nvPr/>
        </p:nvSpPr>
        <p:spPr>
          <a:xfrm>
            <a:off x="768240" y="1371600"/>
            <a:ext cx="1681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7"/>
          <p:cNvSpPr/>
          <p:nvPr/>
        </p:nvSpPr>
        <p:spPr>
          <a:xfrm>
            <a:off x="850320" y="1422000"/>
            <a:ext cx="1517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8"/>
          <p:cNvSpPr/>
          <p:nvPr/>
        </p:nvSpPr>
        <p:spPr>
          <a:xfrm>
            <a:off x="795600" y="2066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9"/>
          <p:cNvSpPr/>
          <p:nvPr/>
        </p:nvSpPr>
        <p:spPr>
          <a:xfrm>
            <a:off x="1024200" y="1947600"/>
            <a:ext cx="25138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毎回見る場所が変わる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0"/>
          <p:cNvSpPr/>
          <p:nvPr/>
        </p:nvSpPr>
        <p:spPr>
          <a:xfrm>
            <a:off x="795600" y="2624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1"/>
          <p:cNvSpPr/>
          <p:nvPr/>
        </p:nvSpPr>
        <p:spPr>
          <a:xfrm>
            <a:off x="1024200" y="2505600"/>
            <a:ext cx="25138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前回確認した項目を暗黙に省略する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12"/>
          <p:cNvSpPr/>
          <p:nvPr/>
        </p:nvSpPr>
        <p:spPr>
          <a:xfrm>
            <a:off x="795600" y="318204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3"/>
          <p:cNvSpPr/>
          <p:nvPr/>
        </p:nvSpPr>
        <p:spPr>
          <a:xfrm>
            <a:off x="1024200" y="3063240"/>
            <a:ext cx="25138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設計制約より一般的なコード品質を優先する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4"/>
          <p:cNvSpPr/>
          <p:nvPr/>
        </p:nvSpPr>
        <p:spPr>
          <a:xfrm>
            <a:off x="4096440" y="1188720"/>
            <a:ext cx="7451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対策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5"/>
          <p:cNvSpPr/>
          <p:nvPr/>
        </p:nvSpPr>
        <p:spPr>
          <a:xfrm>
            <a:off x="4096440" y="1417320"/>
            <a:ext cx="74516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対象・正本・比較対象・評価基準・手順まで固定する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6"/>
          <p:cNvSpPr/>
          <p:nvPr/>
        </p:nvSpPr>
        <p:spPr>
          <a:xfrm>
            <a:off x="4096440" y="1956960"/>
            <a:ext cx="345564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7"/>
          <p:cNvSpPr/>
          <p:nvPr/>
        </p:nvSpPr>
        <p:spPr>
          <a:xfrm>
            <a:off x="4260960" y="2121480"/>
            <a:ext cx="200520" cy="2005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8"/>
          <p:cNvSpPr/>
          <p:nvPr/>
        </p:nvSpPr>
        <p:spPr>
          <a:xfrm>
            <a:off x="4553640" y="210312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最上位アーキテクチャ監査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9"/>
          <p:cNvSpPr/>
          <p:nvPr/>
        </p:nvSpPr>
        <p:spPr>
          <a:xfrm>
            <a:off x="4260960" y="2450520"/>
            <a:ext cx="3126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下位仕様・形式モデル・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WIT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・実装との仕様分裂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20"/>
          <p:cNvSpPr/>
          <p:nvPr/>
        </p:nvSpPr>
        <p:spPr>
          <a:xfrm>
            <a:off x="7781400" y="1956960"/>
            <a:ext cx="345564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1"/>
          <p:cNvSpPr/>
          <p:nvPr/>
        </p:nvSpPr>
        <p:spPr>
          <a:xfrm>
            <a:off x="7946280" y="2121480"/>
            <a:ext cx="200520" cy="2005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22"/>
          <p:cNvSpPr/>
          <p:nvPr/>
        </p:nvSpPr>
        <p:spPr>
          <a:xfrm>
            <a:off x="8238600" y="210312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コンポーネント</a:t>
            </a: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層垂直検証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3"/>
          <p:cNvSpPr/>
          <p:nvPr/>
        </p:nvSpPr>
        <p:spPr>
          <a:xfrm>
            <a:off x="7946280" y="2450520"/>
            <a:ext cx="3126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仕様→形式検証→概念実装→単体テスト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24"/>
          <p:cNvSpPr/>
          <p:nvPr/>
        </p:nvSpPr>
        <p:spPr>
          <a:xfrm>
            <a:off x="4096440" y="3255120"/>
            <a:ext cx="345564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25"/>
          <p:cNvSpPr/>
          <p:nvPr/>
        </p:nvSpPr>
        <p:spPr>
          <a:xfrm>
            <a:off x="4260960" y="3420000"/>
            <a:ext cx="200520" cy="200520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6"/>
          <p:cNvSpPr/>
          <p:nvPr/>
        </p:nvSpPr>
        <p:spPr>
          <a:xfrm>
            <a:off x="4553640" y="340164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設計レビュー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7"/>
          <p:cNvSpPr/>
          <p:nvPr/>
        </p:nvSpPr>
        <p:spPr>
          <a:xfrm>
            <a:off x="4260960" y="3749040"/>
            <a:ext cx="3126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責務・依存方向・生成責務・計算量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8"/>
          <p:cNvSpPr/>
          <p:nvPr/>
        </p:nvSpPr>
        <p:spPr>
          <a:xfrm>
            <a:off x="7781400" y="3255120"/>
            <a:ext cx="345564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9"/>
          <p:cNvSpPr/>
          <p:nvPr/>
        </p:nvSpPr>
        <p:spPr>
          <a:xfrm>
            <a:off x="7946280" y="3420000"/>
            <a:ext cx="200520" cy="2005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0"/>
          <p:cNvSpPr/>
          <p:nvPr/>
        </p:nvSpPr>
        <p:spPr>
          <a:xfrm>
            <a:off x="8238600" y="340164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移植性レビュー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31"/>
          <p:cNvSpPr/>
          <p:nvPr/>
        </p:nvSpPr>
        <p:spPr>
          <a:xfrm>
            <a:off x="7946280" y="3749040"/>
            <a:ext cx="3126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C++23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移植性・型・決定性・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ROM/RAM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32"/>
          <p:cNvSpPr/>
          <p:nvPr/>
        </p:nvSpPr>
        <p:spPr>
          <a:xfrm>
            <a:off x="4096440" y="4553640"/>
            <a:ext cx="345564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33"/>
          <p:cNvSpPr/>
          <p:nvPr/>
        </p:nvSpPr>
        <p:spPr>
          <a:xfrm>
            <a:off x="4260960" y="4718160"/>
            <a:ext cx="200520" cy="200520"/>
          </a:xfrm>
          <a:prstGeom prst="ellipse">
            <a:avLst/>
          </a:prstGeom>
          <a:solidFill>
            <a:srgbClr val="7B61C9"/>
          </a:solidFill>
          <a:ln w="12700">
            <a:solidFill>
              <a:srgbClr val="7B61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34"/>
          <p:cNvSpPr/>
          <p:nvPr/>
        </p:nvSpPr>
        <p:spPr>
          <a:xfrm>
            <a:off x="4553640" y="470016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実測ベース最適化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35"/>
          <p:cNvSpPr/>
          <p:nvPr/>
        </p:nvSpPr>
        <p:spPr>
          <a:xfrm>
            <a:off x="4260960" y="5047560"/>
            <a:ext cx="3126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計測・資源予算・設計境界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36"/>
          <p:cNvSpPr/>
          <p:nvPr/>
        </p:nvSpPr>
        <p:spPr>
          <a:xfrm>
            <a:off x="7781400" y="4553640"/>
            <a:ext cx="345564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37"/>
          <p:cNvSpPr/>
          <p:nvPr/>
        </p:nvSpPr>
        <p:spPr>
          <a:xfrm>
            <a:off x="7946280" y="4718160"/>
            <a:ext cx="200520" cy="2005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38"/>
          <p:cNvSpPr/>
          <p:nvPr/>
        </p:nvSpPr>
        <p:spPr>
          <a:xfrm>
            <a:off x="8238600" y="470016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変更範囲に応じた文書検証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39"/>
          <p:cNvSpPr/>
          <p:nvPr/>
        </p:nvSpPr>
        <p:spPr>
          <a:xfrm>
            <a:off x="7946280" y="5047560"/>
            <a:ext cx="31266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要求・設計・証跡・品質検査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40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41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16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具体例：最上位設計とコンポーネントを別の粒度でレビューする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同じ「レビュー」でも比較する成果物が違う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5"/>
          <p:cNvSpPr/>
          <p:nvPr/>
        </p:nvSpPr>
        <p:spPr>
          <a:xfrm>
            <a:off x="658440" y="1225440"/>
            <a:ext cx="5138280" cy="4918680"/>
          </a:xfrm>
          <a:prstGeom prst="roundRect">
            <a:avLst>
              <a:gd name="adj" fmla="val 1673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6"/>
          <p:cNvSpPr/>
          <p:nvPr/>
        </p:nvSpPr>
        <p:spPr>
          <a:xfrm>
            <a:off x="932760" y="1499760"/>
            <a:ext cx="144396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7"/>
          <p:cNvSpPr/>
          <p:nvPr/>
        </p:nvSpPr>
        <p:spPr>
          <a:xfrm>
            <a:off x="1014840" y="1549800"/>
            <a:ext cx="12794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最上位レベル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8"/>
          <p:cNvSpPr/>
          <p:nvPr/>
        </p:nvSpPr>
        <p:spPr>
          <a:xfrm>
            <a:off x="932760" y="1938600"/>
            <a:ext cx="45529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9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最上位アーキテクチャ監査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9"/>
          <p:cNvSpPr/>
          <p:nvPr/>
        </p:nvSpPr>
        <p:spPr>
          <a:xfrm>
            <a:off x="932760" y="2414160"/>
            <a:ext cx="44798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最上位設計を正本として、下位成果物との仕様分裂・更新漏れを監査する。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0"/>
          <p:cNvSpPr/>
          <p:nvPr/>
        </p:nvSpPr>
        <p:spPr>
          <a:xfrm>
            <a:off x="932760" y="3237120"/>
            <a:ext cx="422388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1"/>
          <p:cNvSpPr/>
          <p:nvPr/>
        </p:nvSpPr>
        <p:spPr>
          <a:xfrm>
            <a:off x="1014840" y="3287160"/>
            <a:ext cx="405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ABI / </a:t>
            </a: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実行コンテキスト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2"/>
          <p:cNvSpPr/>
          <p:nvPr/>
        </p:nvSpPr>
        <p:spPr>
          <a:xfrm>
            <a:off x="932760" y="3813120"/>
            <a:ext cx="422388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3"/>
          <p:cNvSpPr/>
          <p:nvPr/>
        </p:nvSpPr>
        <p:spPr>
          <a:xfrm>
            <a:off x="1014840" y="3863520"/>
            <a:ext cx="405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JIT</a:t>
            </a: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キャッシュ </a:t>
            </a:r>
            <a:r>
              <a:rPr lang="en-US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ディスパッチ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4"/>
          <p:cNvSpPr/>
          <p:nvPr/>
        </p:nvSpPr>
        <p:spPr>
          <a:xfrm>
            <a:off x="932760" y="4389120"/>
            <a:ext cx="4223880" cy="291960"/>
          </a:xfrm>
          <a:prstGeom prst="roundRect">
            <a:avLst>
              <a:gd name="adj" fmla="val 50000"/>
            </a:avLst>
          </a:prstGeom>
          <a:solidFill>
            <a:srgbClr val="DCE8FF"/>
          </a:solidFill>
          <a:ln w="12700">
            <a:solidFill>
              <a:srgbClr val="DCE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5"/>
          <p:cNvSpPr/>
          <p:nvPr/>
        </p:nvSpPr>
        <p:spPr>
          <a:xfrm>
            <a:off x="1014840" y="4439520"/>
            <a:ext cx="405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CSP / </a:t>
            </a: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共有メモリ </a:t>
            </a:r>
            <a:r>
              <a:rPr lang="en-US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/ vMMIO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16"/>
          <p:cNvSpPr/>
          <p:nvPr/>
        </p:nvSpPr>
        <p:spPr>
          <a:xfrm>
            <a:off x="932760" y="4965120"/>
            <a:ext cx="422388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7"/>
          <p:cNvSpPr/>
          <p:nvPr/>
        </p:nvSpPr>
        <p:spPr>
          <a:xfrm>
            <a:off x="1014840" y="5015520"/>
            <a:ext cx="40593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要求 </a:t>
            </a:r>
            <a:r>
              <a:rPr lang="en-US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/ WIT / </a:t>
            </a: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トレーサビリティ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8"/>
          <p:cNvSpPr/>
          <p:nvPr/>
        </p:nvSpPr>
        <p:spPr>
          <a:xfrm>
            <a:off x="6144840" y="1225440"/>
            <a:ext cx="5394240" cy="4918680"/>
          </a:xfrm>
          <a:prstGeom prst="roundRect">
            <a:avLst>
              <a:gd name="adj" fmla="val 1673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9"/>
          <p:cNvSpPr/>
          <p:nvPr/>
        </p:nvSpPr>
        <p:spPr>
          <a:xfrm>
            <a:off x="6419160" y="1499760"/>
            <a:ext cx="166356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20"/>
          <p:cNvSpPr/>
          <p:nvPr/>
        </p:nvSpPr>
        <p:spPr>
          <a:xfrm>
            <a:off x="6501240" y="1549800"/>
            <a:ext cx="1499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コンポーネントレベル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1"/>
          <p:cNvSpPr/>
          <p:nvPr/>
        </p:nvSpPr>
        <p:spPr>
          <a:xfrm>
            <a:off x="6419160" y="1938600"/>
            <a:ext cx="4754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9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コンポーネント</a:t>
            </a:r>
            <a:r>
              <a:rPr lang="en-US" sz="19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r>
              <a:rPr lang="ja-JP" sz="19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層垂直検証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2"/>
          <p:cNvSpPr/>
          <p:nvPr/>
        </p:nvSpPr>
        <p:spPr>
          <a:xfrm>
            <a:off x="6446520" y="2898720"/>
            <a:ext cx="1078200" cy="730800"/>
          </a:xfrm>
          <a:prstGeom prst="roundRect">
            <a:avLst>
              <a:gd name="adj" fmla="val 8750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23"/>
          <p:cNvSpPr/>
          <p:nvPr/>
        </p:nvSpPr>
        <p:spPr>
          <a:xfrm>
            <a:off x="6556320" y="2990160"/>
            <a:ext cx="858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8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24"/>
          <p:cNvSpPr/>
          <p:nvPr/>
        </p:nvSpPr>
        <p:spPr>
          <a:xfrm>
            <a:off x="7525440" y="3264120"/>
            <a:ext cx="16452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25"/>
          <p:cNvSpPr/>
          <p:nvPr/>
        </p:nvSpPr>
        <p:spPr>
          <a:xfrm>
            <a:off x="7689960" y="2898720"/>
            <a:ext cx="1078200" cy="730800"/>
          </a:xfrm>
          <a:prstGeom prst="roundRect">
            <a:avLst>
              <a:gd name="adj" fmla="val 8750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26"/>
          <p:cNvSpPr/>
          <p:nvPr/>
        </p:nvSpPr>
        <p:spPr>
          <a:xfrm>
            <a:off x="7799760" y="2990160"/>
            <a:ext cx="858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8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形式検証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27"/>
          <p:cNvSpPr/>
          <p:nvPr/>
        </p:nvSpPr>
        <p:spPr>
          <a:xfrm>
            <a:off x="8768880" y="3264120"/>
            <a:ext cx="16452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28"/>
          <p:cNvSpPr/>
          <p:nvPr/>
        </p:nvSpPr>
        <p:spPr>
          <a:xfrm>
            <a:off x="8933760" y="2898720"/>
            <a:ext cx="1078200" cy="730800"/>
          </a:xfrm>
          <a:prstGeom prst="roundRect">
            <a:avLst>
              <a:gd name="adj" fmla="val 8750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29"/>
          <p:cNvSpPr/>
          <p:nvPr/>
        </p:nvSpPr>
        <p:spPr>
          <a:xfrm>
            <a:off x="9043560" y="2990160"/>
            <a:ext cx="858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8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概念実装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30"/>
          <p:cNvSpPr/>
          <p:nvPr/>
        </p:nvSpPr>
        <p:spPr>
          <a:xfrm>
            <a:off x="10012680" y="3264120"/>
            <a:ext cx="16452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31"/>
          <p:cNvSpPr/>
          <p:nvPr/>
        </p:nvSpPr>
        <p:spPr>
          <a:xfrm>
            <a:off x="10177200" y="2898720"/>
            <a:ext cx="1078200" cy="730800"/>
          </a:xfrm>
          <a:prstGeom prst="roundRect">
            <a:avLst>
              <a:gd name="adj" fmla="val 8750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32"/>
          <p:cNvSpPr/>
          <p:nvPr/>
        </p:nvSpPr>
        <p:spPr>
          <a:xfrm>
            <a:off x="10287000" y="2990160"/>
            <a:ext cx="8589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8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単体テスト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33"/>
          <p:cNvSpPr/>
          <p:nvPr/>
        </p:nvSpPr>
        <p:spPr>
          <a:xfrm>
            <a:off x="6446520" y="4160520"/>
            <a:ext cx="99720" cy="997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34"/>
          <p:cNvSpPr/>
          <p:nvPr/>
        </p:nvSpPr>
        <p:spPr>
          <a:xfrm>
            <a:off x="6675120" y="4041720"/>
            <a:ext cx="4296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層ごとの一貫性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35"/>
          <p:cNvSpPr/>
          <p:nvPr/>
        </p:nvSpPr>
        <p:spPr>
          <a:xfrm>
            <a:off x="6446520" y="4544640"/>
            <a:ext cx="99720" cy="997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36"/>
          <p:cNvSpPr/>
          <p:nvPr/>
        </p:nvSpPr>
        <p:spPr>
          <a:xfrm>
            <a:off x="6675120" y="4425840"/>
            <a:ext cx="4296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未結線・追随漏れ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37"/>
          <p:cNvSpPr/>
          <p:nvPr/>
        </p:nvSpPr>
        <p:spPr>
          <a:xfrm>
            <a:off x="6446520" y="4928760"/>
            <a:ext cx="99720" cy="997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38"/>
          <p:cNvSpPr/>
          <p:nvPr/>
        </p:nvSpPr>
        <p:spPr>
          <a:xfrm>
            <a:off x="6675120" y="4809600"/>
            <a:ext cx="4296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上位仕様を正本として解決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39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40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17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取り組み：</a:t>
            </a: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GiNZA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でレビュー候補を抽出する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文章の正しさを</a:t>
            </a:r>
            <a:r>
              <a:rPr lang="en-US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に丸投げしない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5"/>
          <p:cNvSpPr/>
          <p:nvPr/>
        </p:nvSpPr>
        <p:spPr>
          <a:xfrm>
            <a:off x="567000" y="1170360"/>
            <a:ext cx="3656880" cy="4982760"/>
          </a:xfrm>
          <a:prstGeom prst="roundRect">
            <a:avLst>
              <a:gd name="adj" fmla="val 2250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6"/>
          <p:cNvSpPr/>
          <p:nvPr/>
        </p:nvSpPr>
        <p:spPr>
          <a:xfrm>
            <a:off x="768240" y="1371600"/>
            <a:ext cx="1681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7"/>
          <p:cNvSpPr/>
          <p:nvPr/>
        </p:nvSpPr>
        <p:spPr>
          <a:xfrm>
            <a:off x="850320" y="1422000"/>
            <a:ext cx="1517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8"/>
          <p:cNvSpPr/>
          <p:nvPr/>
        </p:nvSpPr>
        <p:spPr>
          <a:xfrm>
            <a:off x="795600" y="2066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9"/>
          <p:cNvSpPr/>
          <p:nvPr/>
        </p:nvSpPr>
        <p:spPr>
          <a:xfrm>
            <a:off x="1024200" y="1947600"/>
            <a:ext cx="29710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長い文を見つけると、意味まで書き換える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10"/>
          <p:cNvSpPr/>
          <p:nvPr/>
        </p:nvSpPr>
        <p:spPr>
          <a:xfrm>
            <a:off x="795600" y="2624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11"/>
          <p:cNvSpPr/>
          <p:nvPr/>
        </p:nvSpPr>
        <p:spPr>
          <a:xfrm>
            <a:off x="1024200" y="2505600"/>
            <a:ext cx="29710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表記ゆれと意味差を同じ問題として扱う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2"/>
          <p:cNvSpPr/>
          <p:nvPr/>
        </p:nvSpPr>
        <p:spPr>
          <a:xfrm>
            <a:off x="795600" y="318204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3"/>
          <p:cNvSpPr/>
          <p:nvPr/>
        </p:nvSpPr>
        <p:spPr>
          <a:xfrm>
            <a:off x="1024200" y="3063240"/>
            <a:ext cx="29710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文書全体を毎回読み直し、対象が広がる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4"/>
          <p:cNvSpPr/>
          <p:nvPr/>
        </p:nvSpPr>
        <p:spPr>
          <a:xfrm>
            <a:off x="4498920" y="1188720"/>
            <a:ext cx="71132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対策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5"/>
          <p:cNvSpPr/>
          <p:nvPr/>
        </p:nvSpPr>
        <p:spPr>
          <a:xfrm>
            <a:off x="4498920" y="1417320"/>
            <a:ext cx="7113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文章を自動修正せず、レビュー候補だけ抽出する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6"/>
          <p:cNvSpPr/>
          <p:nvPr/>
        </p:nvSpPr>
        <p:spPr>
          <a:xfrm>
            <a:off x="4617720" y="2121480"/>
            <a:ext cx="1389240" cy="840600"/>
          </a:xfrm>
          <a:prstGeom prst="roundRect">
            <a:avLst>
              <a:gd name="adj" fmla="val 7609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7"/>
          <p:cNvSpPr/>
          <p:nvPr/>
        </p:nvSpPr>
        <p:spPr>
          <a:xfrm>
            <a:off x="4727520" y="2212920"/>
            <a:ext cx="1169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Markdown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8"/>
          <p:cNvSpPr/>
          <p:nvPr/>
        </p:nvSpPr>
        <p:spPr>
          <a:xfrm>
            <a:off x="6007320" y="2541960"/>
            <a:ext cx="29268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9"/>
          <p:cNvSpPr/>
          <p:nvPr/>
        </p:nvSpPr>
        <p:spPr>
          <a:xfrm>
            <a:off x="6300360" y="2121480"/>
            <a:ext cx="1389240" cy="840600"/>
          </a:xfrm>
          <a:prstGeom prst="roundRect">
            <a:avLst>
              <a:gd name="adj" fmla="val 7609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20"/>
          <p:cNvSpPr/>
          <p:nvPr/>
        </p:nvSpPr>
        <p:spPr>
          <a:xfrm>
            <a:off x="6409800" y="2212920"/>
            <a:ext cx="1169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GiNZA</a:t>
            </a:r>
            <a:r>
              <a:rPr lang="ja-JP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解析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21"/>
          <p:cNvSpPr/>
          <p:nvPr/>
        </p:nvSpPr>
        <p:spPr>
          <a:xfrm>
            <a:off x="7689960" y="2541960"/>
            <a:ext cx="29268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22"/>
          <p:cNvSpPr/>
          <p:nvPr/>
        </p:nvSpPr>
        <p:spPr>
          <a:xfrm>
            <a:off x="7982640" y="2121480"/>
            <a:ext cx="1389240" cy="840600"/>
          </a:xfrm>
          <a:prstGeom prst="roundRect">
            <a:avLst>
              <a:gd name="adj" fmla="val 7609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23"/>
          <p:cNvSpPr/>
          <p:nvPr/>
        </p:nvSpPr>
        <p:spPr>
          <a:xfrm>
            <a:off x="8092440" y="2212920"/>
            <a:ext cx="1169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候補抽出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24"/>
          <p:cNvSpPr/>
          <p:nvPr/>
        </p:nvSpPr>
        <p:spPr>
          <a:xfrm>
            <a:off x="9372600" y="2541960"/>
            <a:ext cx="29232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25"/>
          <p:cNvSpPr/>
          <p:nvPr/>
        </p:nvSpPr>
        <p:spPr>
          <a:xfrm>
            <a:off x="9665280" y="2121480"/>
            <a:ext cx="1389240" cy="840600"/>
          </a:xfrm>
          <a:prstGeom prst="roundRect">
            <a:avLst>
              <a:gd name="adj" fmla="val 7609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26"/>
          <p:cNvSpPr/>
          <p:nvPr/>
        </p:nvSpPr>
        <p:spPr>
          <a:xfrm>
            <a:off x="9775080" y="2212920"/>
            <a:ext cx="11696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人が判断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Shape 27"/>
          <p:cNvSpPr/>
          <p:nvPr/>
        </p:nvSpPr>
        <p:spPr>
          <a:xfrm>
            <a:off x="4572000" y="3310200"/>
            <a:ext cx="3272760" cy="16268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28"/>
          <p:cNvSpPr/>
          <p:nvPr/>
        </p:nvSpPr>
        <p:spPr>
          <a:xfrm>
            <a:off x="4572000" y="3310200"/>
            <a:ext cx="49680" cy="162684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4840" tIns="45000" rIns="2484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29"/>
          <p:cNvSpPr/>
          <p:nvPr/>
        </p:nvSpPr>
        <p:spPr>
          <a:xfrm>
            <a:off x="4718160" y="3420000"/>
            <a:ext cx="299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機械で候補化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30"/>
          <p:cNvSpPr/>
          <p:nvPr/>
        </p:nvSpPr>
        <p:spPr>
          <a:xfrm>
            <a:off x="4718160" y="3749040"/>
            <a:ext cx="2998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一文一義でない候補 </a:t>
            </a:r>
            <a:r>
              <a:rPr lang="en-US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長文 </a:t>
            </a:r>
            <a:r>
              <a:rPr lang="en-US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複雑な節接続 </a:t>
            </a:r>
            <a:r>
              <a:rPr lang="en-US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係り受けの複雑化 </a:t>
            </a:r>
            <a:r>
              <a:rPr lang="en-US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1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表記ゆれ候補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31"/>
          <p:cNvSpPr/>
          <p:nvPr/>
        </p:nvSpPr>
        <p:spPr>
          <a:xfrm>
            <a:off x="8156520" y="3310200"/>
            <a:ext cx="3272760" cy="162684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32"/>
          <p:cNvSpPr/>
          <p:nvPr/>
        </p:nvSpPr>
        <p:spPr>
          <a:xfrm>
            <a:off x="8156520" y="3310200"/>
            <a:ext cx="49680" cy="1626840"/>
          </a:xfrm>
          <a:prstGeom prst="rect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4840" tIns="45000" rIns="2484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33"/>
          <p:cNvSpPr/>
          <p:nvPr/>
        </p:nvSpPr>
        <p:spPr>
          <a:xfrm>
            <a:off x="8302680" y="3420000"/>
            <a:ext cx="299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人が決める</a:t>
            </a:r>
            <a:endParaRPr lang="en-US" sz="14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34"/>
          <p:cNvSpPr/>
          <p:nvPr/>
        </p:nvSpPr>
        <p:spPr>
          <a:xfrm>
            <a:off x="8302680" y="3749040"/>
            <a:ext cx="29984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意味を保った分割が可能か </a:t>
            </a:r>
            <a:r>
              <a:rPr lang="en-US" sz="11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1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統一語か別概念か </a:t>
            </a:r>
            <a:r>
              <a:rPr lang="en-US" sz="11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1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仕様意図に合うか。語形の近さは編集距離、意味の近さは埋め込みを補助に使う。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35"/>
          <p:cNvSpPr/>
          <p:nvPr/>
        </p:nvSpPr>
        <p:spPr>
          <a:xfrm>
            <a:off x="4572000" y="5230440"/>
            <a:ext cx="6857280" cy="730800"/>
          </a:xfrm>
          <a:prstGeom prst="roundRect">
            <a:avLst>
              <a:gd name="adj" fmla="val 8750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36"/>
          <p:cNvSpPr/>
          <p:nvPr/>
        </p:nvSpPr>
        <p:spPr>
          <a:xfrm>
            <a:off x="4754880" y="5358240"/>
            <a:ext cx="64915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6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解析結果は「正解」ではなく、レビュー対象を絞るための信号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37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38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18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取り組み：</a:t>
            </a: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AST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でコーディングルールを検査する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「文章で禁止」から「機械で強制」へ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5"/>
          <p:cNvSpPr/>
          <p:nvPr/>
        </p:nvSpPr>
        <p:spPr>
          <a:xfrm>
            <a:off x="567000" y="1170360"/>
            <a:ext cx="3656880" cy="4982760"/>
          </a:xfrm>
          <a:prstGeom prst="roundRect">
            <a:avLst>
              <a:gd name="adj" fmla="val 2250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6"/>
          <p:cNvSpPr/>
          <p:nvPr/>
        </p:nvSpPr>
        <p:spPr>
          <a:xfrm>
            <a:off x="768240" y="1371600"/>
            <a:ext cx="1681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7"/>
          <p:cNvSpPr/>
          <p:nvPr/>
        </p:nvSpPr>
        <p:spPr>
          <a:xfrm>
            <a:off x="850320" y="1422000"/>
            <a:ext cx="1517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8"/>
          <p:cNvSpPr/>
          <p:nvPr/>
        </p:nvSpPr>
        <p:spPr>
          <a:xfrm>
            <a:off x="795600" y="2066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9"/>
          <p:cNvSpPr/>
          <p:nvPr/>
        </p:nvSpPr>
        <p:spPr>
          <a:xfrm>
            <a:off x="1024200" y="1947600"/>
            <a:ext cx="29710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禁止事項を理解していても別の箇所で使う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10"/>
          <p:cNvSpPr/>
          <p:nvPr/>
        </p:nvSpPr>
        <p:spPr>
          <a:xfrm>
            <a:off x="795600" y="2624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11"/>
          <p:cNvSpPr/>
          <p:nvPr/>
        </p:nvSpPr>
        <p:spPr>
          <a:xfrm>
            <a:off x="1024200" y="2505600"/>
            <a:ext cx="29710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「同じ意味だから問題ない」と例外を作る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12"/>
          <p:cNvSpPr/>
          <p:nvPr/>
        </p:nvSpPr>
        <p:spPr>
          <a:xfrm>
            <a:off x="795600" y="318204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3"/>
          <p:cNvSpPr/>
          <p:nvPr/>
        </p:nvSpPr>
        <p:spPr>
          <a:xfrm>
            <a:off x="1024200" y="3063240"/>
            <a:ext cx="297108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自分で生成した違反をレビューで見落とす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14"/>
          <p:cNvSpPr/>
          <p:nvPr/>
        </p:nvSpPr>
        <p:spPr>
          <a:xfrm>
            <a:off x="4498920" y="1188720"/>
            <a:ext cx="71132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対策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5"/>
          <p:cNvSpPr/>
          <p:nvPr/>
        </p:nvSpPr>
        <p:spPr>
          <a:xfrm>
            <a:off x="4498920" y="1417320"/>
            <a:ext cx="71132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構文上のルールは</a:t>
            </a:r>
            <a:r>
              <a:rPr lang="en-US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AST</a:t>
            </a: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で機械判定する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16"/>
          <p:cNvSpPr/>
          <p:nvPr/>
        </p:nvSpPr>
        <p:spPr>
          <a:xfrm>
            <a:off x="4617720" y="2030040"/>
            <a:ext cx="1389240" cy="822240"/>
          </a:xfrm>
          <a:prstGeom prst="roundRect">
            <a:avLst>
              <a:gd name="adj" fmla="val 7778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17"/>
          <p:cNvSpPr/>
          <p:nvPr/>
        </p:nvSpPr>
        <p:spPr>
          <a:xfrm>
            <a:off x="4727520" y="2121480"/>
            <a:ext cx="1169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ソースコード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18"/>
          <p:cNvSpPr/>
          <p:nvPr/>
        </p:nvSpPr>
        <p:spPr>
          <a:xfrm>
            <a:off x="6007320" y="2441160"/>
            <a:ext cx="29268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19"/>
          <p:cNvSpPr/>
          <p:nvPr/>
        </p:nvSpPr>
        <p:spPr>
          <a:xfrm>
            <a:off x="6300360" y="2030040"/>
            <a:ext cx="1389240" cy="822240"/>
          </a:xfrm>
          <a:prstGeom prst="roundRect">
            <a:avLst>
              <a:gd name="adj" fmla="val 7778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20"/>
          <p:cNvSpPr/>
          <p:nvPr/>
        </p:nvSpPr>
        <p:spPr>
          <a:xfrm>
            <a:off x="6409800" y="2121480"/>
            <a:ext cx="1169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21"/>
          <p:cNvSpPr/>
          <p:nvPr/>
        </p:nvSpPr>
        <p:spPr>
          <a:xfrm>
            <a:off x="7689960" y="2441160"/>
            <a:ext cx="29268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22"/>
          <p:cNvSpPr/>
          <p:nvPr/>
        </p:nvSpPr>
        <p:spPr>
          <a:xfrm>
            <a:off x="7982640" y="2030040"/>
            <a:ext cx="1389240" cy="822240"/>
          </a:xfrm>
          <a:prstGeom prst="roundRect">
            <a:avLst>
              <a:gd name="adj" fmla="val 7778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23"/>
          <p:cNvSpPr/>
          <p:nvPr/>
        </p:nvSpPr>
        <p:spPr>
          <a:xfrm>
            <a:off x="8092440" y="2121480"/>
            <a:ext cx="1169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規則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24"/>
          <p:cNvSpPr/>
          <p:nvPr/>
        </p:nvSpPr>
        <p:spPr>
          <a:xfrm>
            <a:off x="9372600" y="2441160"/>
            <a:ext cx="29232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25"/>
          <p:cNvSpPr/>
          <p:nvPr/>
        </p:nvSpPr>
        <p:spPr>
          <a:xfrm>
            <a:off x="9665280" y="2030040"/>
            <a:ext cx="1389240" cy="822240"/>
          </a:xfrm>
          <a:prstGeom prst="roundRect">
            <a:avLst>
              <a:gd name="adj" fmla="val 7778"/>
            </a:avLst>
          </a:prstGeom>
          <a:solidFill>
            <a:srgbClr val="FDE6E3"/>
          </a:solidFill>
          <a:ln w="12700">
            <a:solidFill>
              <a:srgbClr val="D94B3D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26"/>
          <p:cNvSpPr/>
          <p:nvPr/>
        </p:nvSpPr>
        <p:spPr>
          <a:xfrm>
            <a:off x="9775080" y="2121480"/>
            <a:ext cx="1169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違反箇所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27"/>
          <p:cNvSpPr/>
          <p:nvPr/>
        </p:nvSpPr>
        <p:spPr>
          <a:xfrm>
            <a:off x="4617720" y="3218760"/>
            <a:ext cx="2980080" cy="291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28"/>
          <p:cNvSpPr/>
          <p:nvPr/>
        </p:nvSpPr>
        <p:spPr>
          <a:xfrm>
            <a:off x="4700160" y="3269160"/>
            <a:ext cx="2815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型注釈の欠落 </a:t>
            </a:r>
            <a:r>
              <a:rPr lang="en-US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Any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29"/>
          <p:cNvSpPr/>
          <p:nvPr/>
        </p:nvSpPr>
        <p:spPr>
          <a:xfrm>
            <a:off x="7927920" y="3218760"/>
            <a:ext cx="2980080" cy="291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30"/>
          <p:cNvSpPr/>
          <p:nvPr/>
        </p:nvSpPr>
        <p:spPr>
          <a:xfrm>
            <a:off x="8010000" y="3269160"/>
            <a:ext cx="2815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dict / set / list </a:t>
            </a: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の混入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31"/>
          <p:cNvSpPr/>
          <p:nvPr/>
        </p:nvSpPr>
        <p:spPr>
          <a:xfrm>
            <a:off x="4617720" y="3822120"/>
            <a:ext cx="2980080" cy="291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32"/>
          <p:cNvSpPr/>
          <p:nvPr/>
        </p:nvSpPr>
        <p:spPr>
          <a:xfrm>
            <a:off x="4700160" y="3872520"/>
            <a:ext cx="2815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許可していない</a:t>
            </a:r>
            <a:r>
              <a:rPr lang="en-US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API / RTTI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33"/>
          <p:cNvSpPr/>
          <p:nvPr/>
        </p:nvSpPr>
        <p:spPr>
          <a:xfrm>
            <a:off x="7927920" y="3822120"/>
            <a:ext cx="2980080" cy="291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34"/>
          <p:cNvSpPr/>
          <p:nvPr/>
        </p:nvSpPr>
        <p:spPr>
          <a:xfrm>
            <a:off x="8010000" y="3872520"/>
            <a:ext cx="2815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ROM</a:t>
            </a: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化可能データの</a:t>
            </a:r>
            <a:r>
              <a:rPr lang="en-US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RAM</a:t>
            </a: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保持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35"/>
          <p:cNvSpPr/>
          <p:nvPr/>
        </p:nvSpPr>
        <p:spPr>
          <a:xfrm>
            <a:off x="4617720" y="4425840"/>
            <a:ext cx="298008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36"/>
          <p:cNvSpPr/>
          <p:nvPr/>
        </p:nvSpPr>
        <p:spPr>
          <a:xfrm>
            <a:off x="4700160" y="4475880"/>
            <a:ext cx="2815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Tier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依存方向 </a:t>
            </a: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/ bare import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37"/>
          <p:cNvSpPr/>
          <p:nvPr/>
        </p:nvSpPr>
        <p:spPr>
          <a:xfrm>
            <a:off x="7927920" y="4425840"/>
            <a:ext cx="298008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38"/>
          <p:cNvSpPr/>
          <p:nvPr/>
        </p:nvSpPr>
        <p:spPr>
          <a:xfrm>
            <a:off x="8010000" y="4475880"/>
            <a:ext cx="2815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未結線・空実装・サボり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39"/>
          <p:cNvSpPr/>
          <p:nvPr/>
        </p:nvSpPr>
        <p:spPr>
          <a:xfrm>
            <a:off x="4617720" y="5440680"/>
            <a:ext cx="6820560" cy="621000"/>
          </a:xfrm>
          <a:prstGeom prst="roundRect">
            <a:avLst>
              <a:gd name="adj" fmla="val 10294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40"/>
          <p:cNvSpPr/>
          <p:nvPr/>
        </p:nvSpPr>
        <p:spPr>
          <a:xfrm>
            <a:off x="4800600" y="5568840"/>
            <a:ext cx="64548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AST</a:t>
            </a:r>
            <a:r>
              <a:rPr lang="ja-JP" sz="13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は構文上の違反を検出。性能や意味の正しさはテストとレビューで確かめる。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41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42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19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取り組み：仕様空間を文書グラフとして扱う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変更影響を検索結果ではなく依存関係で追う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5"/>
          <p:cNvSpPr/>
          <p:nvPr/>
        </p:nvSpPr>
        <p:spPr>
          <a:xfrm>
            <a:off x="567000" y="1170360"/>
            <a:ext cx="3245400" cy="4982760"/>
          </a:xfrm>
          <a:prstGeom prst="roundRect">
            <a:avLst>
              <a:gd name="adj" fmla="val 2535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6"/>
          <p:cNvSpPr/>
          <p:nvPr/>
        </p:nvSpPr>
        <p:spPr>
          <a:xfrm>
            <a:off x="768240" y="1371600"/>
            <a:ext cx="1681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7"/>
          <p:cNvSpPr/>
          <p:nvPr/>
        </p:nvSpPr>
        <p:spPr>
          <a:xfrm>
            <a:off x="850320" y="1422000"/>
            <a:ext cx="1517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8"/>
          <p:cNvSpPr/>
          <p:nvPr/>
        </p:nvSpPr>
        <p:spPr>
          <a:xfrm>
            <a:off x="795600" y="2066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9"/>
          <p:cNvSpPr/>
          <p:nvPr/>
        </p:nvSpPr>
        <p:spPr>
          <a:xfrm>
            <a:off x="1024200" y="1947600"/>
            <a:ext cx="25596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定義元だけ変更して参照側を残す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10"/>
          <p:cNvSpPr/>
          <p:nvPr/>
        </p:nvSpPr>
        <p:spPr>
          <a:xfrm>
            <a:off x="795600" y="2624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11"/>
          <p:cNvSpPr/>
          <p:nvPr/>
        </p:nvSpPr>
        <p:spPr>
          <a:xfrm>
            <a:off x="1024200" y="2505600"/>
            <a:ext cx="25596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その場の検索結果だけで依存関係を判断する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12"/>
          <p:cNvSpPr/>
          <p:nvPr/>
        </p:nvSpPr>
        <p:spPr>
          <a:xfrm>
            <a:off x="795600" y="318204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13"/>
          <p:cNvSpPr/>
          <p:nvPr/>
        </p:nvSpPr>
        <p:spPr>
          <a:xfrm>
            <a:off x="1024200" y="3063240"/>
            <a:ext cx="255960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変更範囲を広げすぎる </a:t>
            </a:r>
            <a:r>
              <a:rPr lang="en-US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狭めすぎる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14"/>
          <p:cNvSpPr/>
          <p:nvPr/>
        </p:nvSpPr>
        <p:spPr>
          <a:xfrm>
            <a:off x="4114800" y="1188720"/>
            <a:ext cx="7314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対策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15"/>
          <p:cNvSpPr/>
          <p:nvPr/>
        </p:nvSpPr>
        <p:spPr>
          <a:xfrm>
            <a:off x="4114800" y="1417320"/>
            <a:ext cx="73144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設計階層とキーワード参照を有向グラフとして管理する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16"/>
          <p:cNvSpPr/>
          <p:nvPr/>
        </p:nvSpPr>
        <p:spPr>
          <a:xfrm>
            <a:off x="4160520" y="1920240"/>
            <a:ext cx="2742480" cy="566280"/>
          </a:xfrm>
          <a:prstGeom prst="roundRect">
            <a:avLst>
              <a:gd name="adj" fmla="val 11290"/>
            </a:avLst>
          </a:prstGeom>
          <a:solidFill>
            <a:srgbClr val="E8EDF3"/>
          </a:solidFill>
          <a:ln w="12700">
            <a:solidFill>
              <a:srgbClr val="A7B1BE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7"/>
          <p:cNvSpPr/>
          <p:nvPr/>
        </p:nvSpPr>
        <p:spPr>
          <a:xfrm>
            <a:off x="4270320" y="2011680"/>
            <a:ext cx="2522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0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：要求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18"/>
          <p:cNvSpPr/>
          <p:nvPr/>
        </p:nvSpPr>
        <p:spPr>
          <a:xfrm>
            <a:off x="5532120" y="2486880"/>
            <a:ext cx="360" cy="16488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9"/>
          <p:cNvSpPr/>
          <p:nvPr/>
        </p:nvSpPr>
        <p:spPr>
          <a:xfrm>
            <a:off x="4160520" y="2651760"/>
            <a:ext cx="2742480" cy="566280"/>
          </a:xfrm>
          <a:prstGeom prst="roundRect">
            <a:avLst>
              <a:gd name="adj" fmla="val 11290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20"/>
          <p:cNvSpPr/>
          <p:nvPr/>
        </p:nvSpPr>
        <p:spPr>
          <a:xfrm>
            <a:off x="4270320" y="2743200"/>
            <a:ext cx="2522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：主要コンポーネント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21"/>
          <p:cNvSpPr/>
          <p:nvPr/>
        </p:nvSpPr>
        <p:spPr>
          <a:xfrm>
            <a:off x="5532120" y="3218400"/>
            <a:ext cx="360" cy="16488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22"/>
          <p:cNvSpPr/>
          <p:nvPr/>
        </p:nvSpPr>
        <p:spPr>
          <a:xfrm>
            <a:off x="4160520" y="3383280"/>
            <a:ext cx="2742480" cy="566280"/>
          </a:xfrm>
          <a:prstGeom prst="roundRect">
            <a:avLst>
              <a:gd name="adj" fmla="val 11290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23"/>
          <p:cNvSpPr/>
          <p:nvPr/>
        </p:nvSpPr>
        <p:spPr>
          <a:xfrm>
            <a:off x="4270320" y="3474720"/>
            <a:ext cx="2522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：サブコンポーネント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24"/>
          <p:cNvSpPr/>
          <p:nvPr/>
        </p:nvSpPr>
        <p:spPr>
          <a:xfrm>
            <a:off x="5532120" y="3949920"/>
            <a:ext cx="360" cy="16488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25"/>
          <p:cNvSpPr/>
          <p:nvPr/>
        </p:nvSpPr>
        <p:spPr>
          <a:xfrm>
            <a:off x="4160520" y="4114800"/>
            <a:ext cx="2742480" cy="566280"/>
          </a:xfrm>
          <a:prstGeom prst="roundRect">
            <a:avLst>
              <a:gd name="adj" fmla="val 11290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26"/>
          <p:cNvSpPr/>
          <p:nvPr/>
        </p:nvSpPr>
        <p:spPr>
          <a:xfrm>
            <a:off x="4270320" y="4206240"/>
            <a:ext cx="2522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：リーフ </a:t>
            </a:r>
            <a:r>
              <a:rPr lang="en-US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2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プラットフォーム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27"/>
          <p:cNvSpPr/>
          <p:nvPr/>
        </p:nvSpPr>
        <p:spPr>
          <a:xfrm>
            <a:off x="7635240" y="1965960"/>
            <a:ext cx="1480680" cy="6577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28"/>
          <p:cNvSpPr/>
          <p:nvPr/>
        </p:nvSpPr>
        <p:spPr>
          <a:xfrm>
            <a:off x="7745040" y="2057400"/>
            <a:ext cx="1261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ファイル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29"/>
          <p:cNvSpPr/>
          <p:nvPr/>
        </p:nvSpPr>
        <p:spPr>
          <a:xfrm>
            <a:off x="9646920" y="1965960"/>
            <a:ext cx="1480680" cy="6577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30"/>
          <p:cNvSpPr/>
          <p:nvPr/>
        </p:nvSpPr>
        <p:spPr>
          <a:xfrm>
            <a:off x="9756720" y="2057400"/>
            <a:ext cx="1261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見出し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31"/>
          <p:cNvSpPr/>
          <p:nvPr/>
        </p:nvSpPr>
        <p:spPr>
          <a:xfrm>
            <a:off x="7635240" y="3246120"/>
            <a:ext cx="1480680" cy="6577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32"/>
          <p:cNvSpPr/>
          <p:nvPr/>
        </p:nvSpPr>
        <p:spPr>
          <a:xfrm>
            <a:off x="7745040" y="3337560"/>
            <a:ext cx="1261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要求キーワード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33"/>
          <p:cNvSpPr/>
          <p:nvPr/>
        </p:nvSpPr>
        <p:spPr>
          <a:xfrm>
            <a:off x="9646920" y="3246120"/>
            <a:ext cx="1480680" cy="6577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34"/>
          <p:cNvSpPr/>
          <p:nvPr/>
        </p:nvSpPr>
        <p:spPr>
          <a:xfrm>
            <a:off x="9756720" y="3337560"/>
            <a:ext cx="1261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証跡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35"/>
          <p:cNvSpPr/>
          <p:nvPr/>
        </p:nvSpPr>
        <p:spPr>
          <a:xfrm>
            <a:off x="8641080" y="4526280"/>
            <a:ext cx="1480680" cy="6577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7B61C9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36"/>
          <p:cNvSpPr/>
          <p:nvPr/>
        </p:nvSpPr>
        <p:spPr>
          <a:xfrm>
            <a:off x="8750880" y="4617720"/>
            <a:ext cx="1261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局所部分グラフ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37"/>
          <p:cNvSpPr/>
          <p:nvPr/>
        </p:nvSpPr>
        <p:spPr>
          <a:xfrm>
            <a:off x="8375760" y="2624040"/>
            <a:ext cx="360" cy="622080"/>
          </a:xfrm>
          <a:prstGeom prst="line">
            <a:avLst/>
          </a:prstGeom>
          <a:ln w="11430">
            <a:solidFill>
              <a:srgbClr val="A7B1BE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38"/>
          <p:cNvSpPr/>
          <p:nvPr/>
        </p:nvSpPr>
        <p:spPr>
          <a:xfrm>
            <a:off x="10387440" y="2624040"/>
            <a:ext cx="360" cy="622080"/>
          </a:xfrm>
          <a:prstGeom prst="line">
            <a:avLst/>
          </a:prstGeom>
          <a:ln w="11430">
            <a:solidFill>
              <a:srgbClr val="A7B1BE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39"/>
          <p:cNvSpPr/>
          <p:nvPr/>
        </p:nvSpPr>
        <p:spPr>
          <a:xfrm>
            <a:off x="8375760" y="3904200"/>
            <a:ext cx="786240" cy="622080"/>
          </a:xfrm>
          <a:prstGeom prst="line">
            <a:avLst/>
          </a:prstGeom>
          <a:ln w="1143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40"/>
          <p:cNvSpPr/>
          <p:nvPr/>
        </p:nvSpPr>
        <p:spPr>
          <a:xfrm flipH="1">
            <a:off x="9601200" y="3904200"/>
            <a:ext cx="786240" cy="622080"/>
          </a:xfrm>
          <a:prstGeom prst="line">
            <a:avLst/>
          </a:prstGeom>
          <a:ln w="1143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41"/>
          <p:cNvSpPr/>
          <p:nvPr/>
        </p:nvSpPr>
        <p:spPr>
          <a:xfrm>
            <a:off x="4160520" y="5413320"/>
            <a:ext cx="7058520" cy="712440"/>
          </a:xfrm>
          <a:prstGeom prst="roundRect">
            <a:avLst>
              <a:gd name="adj" fmla="val 8974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42"/>
          <p:cNvSpPr/>
          <p:nvPr/>
        </p:nvSpPr>
        <p:spPr>
          <a:xfrm>
            <a:off x="4343400" y="5541120"/>
            <a:ext cx="6692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要求から局所部分グラフを抽出し、変更影響・未伝播・</a:t>
            </a:r>
            <a:r>
              <a:rPr lang="en-US" sz="12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Tier</a:t>
            </a:r>
            <a:r>
              <a:rPr lang="ja-JP" sz="12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逆流・追跡経路の切断を機械的に確認する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43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44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取り組み：検証漏れと修正漏れを機械的に止める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「検証したつもり」と「変更の未伝播」を自動で検出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5"/>
          <p:cNvSpPr/>
          <p:nvPr/>
        </p:nvSpPr>
        <p:spPr>
          <a:xfrm>
            <a:off x="567000" y="1170360"/>
            <a:ext cx="3153960" cy="4982760"/>
          </a:xfrm>
          <a:prstGeom prst="roundRect">
            <a:avLst>
              <a:gd name="adj" fmla="val 2609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6"/>
          <p:cNvSpPr/>
          <p:nvPr/>
        </p:nvSpPr>
        <p:spPr>
          <a:xfrm>
            <a:off x="768240" y="1371600"/>
            <a:ext cx="1681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7"/>
          <p:cNvSpPr/>
          <p:nvPr/>
        </p:nvSpPr>
        <p:spPr>
          <a:xfrm>
            <a:off x="850320" y="1422000"/>
            <a:ext cx="1517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8"/>
          <p:cNvSpPr/>
          <p:nvPr/>
        </p:nvSpPr>
        <p:spPr>
          <a:xfrm>
            <a:off x="795600" y="2066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9"/>
          <p:cNvSpPr/>
          <p:nvPr/>
        </p:nvSpPr>
        <p:spPr>
          <a:xfrm>
            <a:off x="1024200" y="194760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必須検証を実行せず、実装結果だけで完了扱い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10"/>
          <p:cNvSpPr/>
          <p:nvPr/>
        </p:nvSpPr>
        <p:spPr>
          <a:xfrm>
            <a:off x="795600" y="2624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11"/>
          <p:cNvSpPr/>
          <p:nvPr/>
        </p:nvSpPr>
        <p:spPr>
          <a:xfrm>
            <a:off x="1024200" y="250560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古い監査結果を現在の証跡として使う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12"/>
          <p:cNvSpPr/>
          <p:nvPr/>
        </p:nvSpPr>
        <p:spPr>
          <a:xfrm>
            <a:off x="795600" y="318204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13"/>
          <p:cNvSpPr/>
          <p:nvPr/>
        </p:nvSpPr>
        <p:spPr>
          <a:xfrm>
            <a:off x="1024200" y="306324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参照側が古いままでも局所整合で見逃す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14"/>
          <p:cNvSpPr/>
          <p:nvPr/>
        </p:nvSpPr>
        <p:spPr>
          <a:xfrm>
            <a:off x="4023360" y="1188720"/>
            <a:ext cx="7405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対策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15"/>
          <p:cNvSpPr/>
          <p:nvPr/>
        </p:nvSpPr>
        <p:spPr>
          <a:xfrm>
            <a:off x="4023360" y="1417320"/>
            <a:ext cx="7405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8</a:t>
            </a: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つの品質検査 </a:t>
            </a:r>
            <a:r>
              <a:rPr lang="en-US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+ </a:t>
            </a: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検証省略の検出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16"/>
          <p:cNvSpPr/>
          <p:nvPr/>
        </p:nvSpPr>
        <p:spPr>
          <a:xfrm>
            <a:off x="4023360" y="1974960"/>
            <a:ext cx="345564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17"/>
          <p:cNvSpPr/>
          <p:nvPr/>
        </p:nvSpPr>
        <p:spPr>
          <a:xfrm>
            <a:off x="4187880" y="2139840"/>
            <a:ext cx="200520" cy="2005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18"/>
          <p:cNvSpPr/>
          <p:nvPr/>
        </p:nvSpPr>
        <p:spPr>
          <a:xfrm>
            <a:off x="4480560" y="212148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形式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19"/>
          <p:cNvSpPr/>
          <p:nvPr/>
        </p:nvSpPr>
        <p:spPr>
          <a:xfrm>
            <a:off x="4187880" y="2468880"/>
            <a:ext cx="312660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リンク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アンカー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Mermaid 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誤字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20"/>
          <p:cNvSpPr/>
          <p:nvPr/>
        </p:nvSpPr>
        <p:spPr>
          <a:xfrm>
            <a:off x="7726680" y="1974960"/>
            <a:ext cx="345564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21"/>
          <p:cNvSpPr/>
          <p:nvPr/>
        </p:nvSpPr>
        <p:spPr>
          <a:xfrm>
            <a:off x="7891200" y="2139840"/>
            <a:ext cx="200520" cy="2005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22"/>
          <p:cNvSpPr/>
          <p:nvPr/>
        </p:nvSpPr>
        <p:spPr>
          <a:xfrm>
            <a:off x="8183880" y="212148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トレーサビリティ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23"/>
          <p:cNvSpPr/>
          <p:nvPr/>
        </p:nvSpPr>
        <p:spPr>
          <a:xfrm>
            <a:off x="7891200" y="2468880"/>
            <a:ext cx="312660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未定義キーワード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未参照要求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24"/>
          <p:cNvSpPr/>
          <p:nvPr/>
        </p:nvSpPr>
        <p:spPr>
          <a:xfrm>
            <a:off x="4023360" y="2825640"/>
            <a:ext cx="345564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25"/>
          <p:cNvSpPr/>
          <p:nvPr/>
        </p:nvSpPr>
        <p:spPr>
          <a:xfrm>
            <a:off x="4187880" y="2990160"/>
            <a:ext cx="200520" cy="200520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26"/>
          <p:cNvSpPr/>
          <p:nvPr/>
        </p:nvSpPr>
        <p:spPr>
          <a:xfrm>
            <a:off x="4480560" y="297180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階層依存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27"/>
          <p:cNvSpPr/>
          <p:nvPr/>
        </p:nvSpPr>
        <p:spPr>
          <a:xfrm>
            <a:off x="4187880" y="3319200"/>
            <a:ext cx="312660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Tier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逆流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境界違反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28"/>
          <p:cNvSpPr/>
          <p:nvPr/>
        </p:nvSpPr>
        <p:spPr>
          <a:xfrm>
            <a:off x="7726680" y="2825640"/>
            <a:ext cx="345564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29"/>
          <p:cNvSpPr/>
          <p:nvPr/>
        </p:nvSpPr>
        <p:spPr>
          <a:xfrm>
            <a:off x="7891200" y="2990160"/>
            <a:ext cx="200520" cy="200520"/>
          </a:xfrm>
          <a:prstGeom prst="ellipse">
            <a:avLst/>
          </a:prstGeom>
          <a:solidFill>
            <a:srgbClr val="7B61C9"/>
          </a:solidFill>
          <a:ln w="12700">
            <a:solidFill>
              <a:srgbClr val="7B61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30"/>
          <p:cNvSpPr/>
          <p:nvPr/>
        </p:nvSpPr>
        <p:spPr>
          <a:xfrm>
            <a:off x="8183880" y="297180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形式検証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31"/>
          <p:cNvSpPr/>
          <p:nvPr/>
        </p:nvSpPr>
        <p:spPr>
          <a:xfrm>
            <a:off x="7891200" y="3319200"/>
            <a:ext cx="312660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モデル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変異検査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32"/>
          <p:cNvSpPr/>
          <p:nvPr/>
        </p:nvSpPr>
        <p:spPr>
          <a:xfrm>
            <a:off x="4023360" y="3675960"/>
            <a:ext cx="345564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33"/>
          <p:cNvSpPr/>
          <p:nvPr/>
        </p:nvSpPr>
        <p:spPr>
          <a:xfrm>
            <a:off x="4187880" y="3840480"/>
            <a:ext cx="200520" cy="2005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34"/>
          <p:cNvSpPr/>
          <p:nvPr/>
        </p:nvSpPr>
        <p:spPr>
          <a:xfrm>
            <a:off x="4480560" y="382212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WIT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35"/>
          <p:cNvSpPr/>
          <p:nvPr/>
        </p:nvSpPr>
        <p:spPr>
          <a:xfrm>
            <a:off x="4187880" y="4169520"/>
            <a:ext cx="312660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インターフェース定義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36"/>
          <p:cNvSpPr/>
          <p:nvPr/>
        </p:nvSpPr>
        <p:spPr>
          <a:xfrm>
            <a:off x="7726680" y="3675960"/>
            <a:ext cx="345564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37"/>
          <p:cNvSpPr/>
          <p:nvPr/>
        </p:nvSpPr>
        <p:spPr>
          <a:xfrm>
            <a:off x="7891200" y="3840480"/>
            <a:ext cx="200520" cy="2005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38"/>
          <p:cNvSpPr/>
          <p:nvPr/>
        </p:nvSpPr>
        <p:spPr>
          <a:xfrm>
            <a:off x="8183880" y="382212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証跡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39"/>
          <p:cNvSpPr/>
          <p:nvPr/>
        </p:nvSpPr>
        <p:spPr>
          <a:xfrm>
            <a:off x="7891200" y="4169520"/>
            <a:ext cx="312660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テスト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ベンチマークの存在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40"/>
          <p:cNvSpPr/>
          <p:nvPr/>
        </p:nvSpPr>
        <p:spPr>
          <a:xfrm>
            <a:off x="4023360" y="4526280"/>
            <a:ext cx="345564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41"/>
          <p:cNvSpPr/>
          <p:nvPr/>
        </p:nvSpPr>
        <p:spPr>
          <a:xfrm>
            <a:off x="4187880" y="4690800"/>
            <a:ext cx="200520" cy="2005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42"/>
          <p:cNvSpPr/>
          <p:nvPr/>
        </p:nvSpPr>
        <p:spPr>
          <a:xfrm>
            <a:off x="4480560" y="467244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検証義務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 43"/>
          <p:cNvSpPr/>
          <p:nvPr/>
        </p:nvSpPr>
        <p:spPr>
          <a:xfrm>
            <a:off x="4187880" y="5020200"/>
            <a:ext cx="312660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必須監査の未実施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陳腐化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44"/>
          <p:cNvSpPr/>
          <p:nvPr/>
        </p:nvSpPr>
        <p:spPr>
          <a:xfrm>
            <a:off x="7726680" y="4526280"/>
            <a:ext cx="3455640" cy="712440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45"/>
          <p:cNvSpPr/>
          <p:nvPr/>
        </p:nvSpPr>
        <p:spPr>
          <a:xfrm>
            <a:off x="7891200" y="4690800"/>
            <a:ext cx="200520" cy="2005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46"/>
          <p:cNvSpPr/>
          <p:nvPr/>
        </p:nvSpPr>
        <p:spPr>
          <a:xfrm>
            <a:off x="8183880" y="467244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一貫性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47"/>
          <p:cNvSpPr/>
          <p:nvPr/>
        </p:nvSpPr>
        <p:spPr>
          <a:xfrm>
            <a:off x="7891200" y="5020200"/>
            <a:ext cx="3126600" cy="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値のずれ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修正未伝播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48"/>
          <p:cNvSpPr/>
          <p:nvPr/>
        </p:nvSpPr>
        <p:spPr>
          <a:xfrm>
            <a:off x="4023360" y="5285160"/>
            <a:ext cx="7158960" cy="822240"/>
          </a:xfrm>
          <a:prstGeom prst="roundRect">
            <a:avLst>
              <a:gd name="adj" fmla="val 7778"/>
            </a:avLst>
          </a:prstGeom>
          <a:solidFill>
            <a:srgbClr val="FDE6E3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49"/>
          <p:cNvSpPr/>
          <p:nvPr/>
        </p:nvSpPr>
        <p:spPr>
          <a:xfrm>
            <a:off x="4206240" y="5413320"/>
            <a:ext cx="679320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重要：検証の失敗だけでなく「必須検証の未実施」もエラー化。変更前の基準状態とハッシュで、修正未伝播・古い監査結果も検出する。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50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51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21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取り組み：ソフトウェア工学の技法でテストを設計する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網羅性の基準は</a:t>
            </a:r>
            <a:r>
              <a:rPr lang="en-US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に決めさせない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5"/>
          <p:cNvSpPr/>
          <p:nvPr/>
        </p:nvSpPr>
        <p:spPr>
          <a:xfrm>
            <a:off x="567000" y="1170360"/>
            <a:ext cx="3153960" cy="4982760"/>
          </a:xfrm>
          <a:prstGeom prst="roundRect">
            <a:avLst>
              <a:gd name="adj" fmla="val 2609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6"/>
          <p:cNvSpPr/>
          <p:nvPr/>
        </p:nvSpPr>
        <p:spPr>
          <a:xfrm>
            <a:off x="768240" y="1371600"/>
            <a:ext cx="1681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7"/>
          <p:cNvSpPr/>
          <p:nvPr/>
        </p:nvSpPr>
        <p:spPr>
          <a:xfrm>
            <a:off x="850320" y="1422000"/>
            <a:ext cx="1517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8"/>
          <p:cNvSpPr/>
          <p:nvPr/>
        </p:nvSpPr>
        <p:spPr>
          <a:xfrm>
            <a:off x="795600" y="2066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9"/>
          <p:cNvSpPr/>
          <p:nvPr/>
        </p:nvSpPr>
        <p:spPr>
          <a:xfrm>
            <a:off x="1024200" y="194760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実装が通る期待値を作る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10"/>
          <p:cNvSpPr/>
          <p:nvPr/>
        </p:nvSpPr>
        <p:spPr>
          <a:xfrm>
            <a:off x="795600" y="2624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11"/>
          <p:cNvSpPr/>
          <p:nvPr/>
        </p:nvSpPr>
        <p:spPr>
          <a:xfrm>
            <a:off x="1024200" y="250560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正常系や代表例で十分と判断する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12"/>
          <p:cNvSpPr/>
          <p:nvPr/>
        </p:nvSpPr>
        <p:spPr>
          <a:xfrm>
            <a:off x="795600" y="318204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13"/>
          <p:cNvSpPr/>
          <p:nvPr/>
        </p:nvSpPr>
        <p:spPr>
          <a:xfrm>
            <a:off x="1024200" y="306324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状態ではなく代理値だけを見る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14"/>
          <p:cNvSpPr/>
          <p:nvPr/>
        </p:nvSpPr>
        <p:spPr>
          <a:xfrm>
            <a:off x="4023360" y="1188720"/>
            <a:ext cx="7405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対策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5"/>
          <p:cNvSpPr/>
          <p:nvPr/>
        </p:nvSpPr>
        <p:spPr>
          <a:xfrm>
            <a:off x="4023360" y="1417320"/>
            <a:ext cx="74059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仕様・状態・条件空間からテストを導出する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16"/>
          <p:cNvSpPr/>
          <p:nvPr/>
        </p:nvSpPr>
        <p:spPr>
          <a:xfrm>
            <a:off x="4023360" y="1920240"/>
            <a:ext cx="345564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17"/>
          <p:cNvSpPr/>
          <p:nvPr/>
        </p:nvSpPr>
        <p:spPr>
          <a:xfrm>
            <a:off x="4187880" y="2084760"/>
            <a:ext cx="200520" cy="20052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18"/>
          <p:cNvSpPr/>
          <p:nvPr/>
        </p:nvSpPr>
        <p:spPr>
          <a:xfrm>
            <a:off x="4480560" y="206640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同値分割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19"/>
          <p:cNvSpPr/>
          <p:nvPr/>
        </p:nvSpPr>
        <p:spPr>
          <a:xfrm>
            <a:off x="4187880" y="2414160"/>
            <a:ext cx="3126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入力空間を意味のあるクラスに分ける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20"/>
          <p:cNvSpPr/>
          <p:nvPr/>
        </p:nvSpPr>
        <p:spPr>
          <a:xfrm>
            <a:off x="7726680" y="1920240"/>
            <a:ext cx="345564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21"/>
          <p:cNvSpPr/>
          <p:nvPr/>
        </p:nvSpPr>
        <p:spPr>
          <a:xfrm>
            <a:off x="7891200" y="2084760"/>
            <a:ext cx="200520" cy="20052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22"/>
          <p:cNvSpPr/>
          <p:nvPr/>
        </p:nvSpPr>
        <p:spPr>
          <a:xfrm>
            <a:off x="8183880" y="206640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境界値分析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23"/>
          <p:cNvSpPr/>
          <p:nvPr/>
        </p:nvSpPr>
        <p:spPr>
          <a:xfrm>
            <a:off x="7891200" y="2414160"/>
            <a:ext cx="3126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境界の直前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直後を狙う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24"/>
          <p:cNvSpPr/>
          <p:nvPr/>
        </p:nvSpPr>
        <p:spPr>
          <a:xfrm>
            <a:off x="4023360" y="2862000"/>
            <a:ext cx="345564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25"/>
          <p:cNvSpPr/>
          <p:nvPr/>
        </p:nvSpPr>
        <p:spPr>
          <a:xfrm>
            <a:off x="4187880" y="3026520"/>
            <a:ext cx="200520" cy="200520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26"/>
          <p:cNvSpPr/>
          <p:nvPr/>
        </p:nvSpPr>
        <p:spPr>
          <a:xfrm>
            <a:off x="4480560" y="300852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状態遷移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27"/>
          <p:cNvSpPr/>
          <p:nvPr/>
        </p:nvSpPr>
        <p:spPr>
          <a:xfrm>
            <a:off x="4187880" y="3355920"/>
            <a:ext cx="3126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状態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×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イベント </a:t>
            </a:r>
            <a:r>
              <a:rPr lang="en-US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× </a:t>
            </a: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遷移を確認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28"/>
          <p:cNvSpPr/>
          <p:nvPr/>
        </p:nvSpPr>
        <p:spPr>
          <a:xfrm>
            <a:off x="7726680" y="2862000"/>
            <a:ext cx="345564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29"/>
          <p:cNvSpPr/>
          <p:nvPr/>
        </p:nvSpPr>
        <p:spPr>
          <a:xfrm>
            <a:off x="7891200" y="3026520"/>
            <a:ext cx="200520" cy="2005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30"/>
          <p:cNvSpPr/>
          <p:nvPr/>
        </p:nvSpPr>
        <p:spPr>
          <a:xfrm>
            <a:off x="8183880" y="300852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直交表 </a:t>
            </a: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/ Pairwise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31"/>
          <p:cNvSpPr/>
          <p:nvPr/>
        </p:nvSpPr>
        <p:spPr>
          <a:xfrm>
            <a:off x="7891200" y="3355920"/>
            <a:ext cx="3126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組合せ条件を系統的に減らす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32"/>
          <p:cNvSpPr/>
          <p:nvPr/>
        </p:nvSpPr>
        <p:spPr>
          <a:xfrm>
            <a:off x="4023360" y="3803760"/>
            <a:ext cx="345564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33"/>
          <p:cNvSpPr/>
          <p:nvPr/>
        </p:nvSpPr>
        <p:spPr>
          <a:xfrm>
            <a:off x="4187880" y="3968640"/>
            <a:ext cx="200520" cy="2005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34"/>
          <p:cNvSpPr/>
          <p:nvPr/>
        </p:nvSpPr>
        <p:spPr>
          <a:xfrm>
            <a:off x="4480560" y="395028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異常系 </a:t>
            </a: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/ trap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35"/>
          <p:cNvSpPr/>
          <p:nvPr/>
        </p:nvSpPr>
        <p:spPr>
          <a:xfrm>
            <a:off x="4187880" y="4297680"/>
            <a:ext cx="3126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失敗動作も仕様から導出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36"/>
          <p:cNvSpPr/>
          <p:nvPr/>
        </p:nvSpPr>
        <p:spPr>
          <a:xfrm>
            <a:off x="7726680" y="3803760"/>
            <a:ext cx="3455640" cy="785520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37"/>
          <p:cNvSpPr/>
          <p:nvPr/>
        </p:nvSpPr>
        <p:spPr>
          <a:xfrm>
            <a:off x="7891200" y="3968640"/>
            <a:ext cx="200520" cy="200520"/>
          </a:xfrm>
          <a:prstGeom prst="ellipse">
            <a:avLst/>
          </a:prstGeom>
          <a:solidFill>
            <a:srgbClr val="7B61C9"/>
          </a:solidFill>
          <a:ln w="12700">
            <a:solidFill>
              <a:srgbClr val="7B61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38"/>
          <p:cNvSpPr/>
          <p:nvPr/>
        </p:nvSpPr>
        <p:spPr>
          <a:xfrm>
            <a:off x="8183880" y="3950280"/>
            <a:ext cx="28339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公式テスト </a:t>
            </a:r>
            <a:r>
              <a:rPr lang="en-US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+ </a:t>
            </a: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固有要求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39"/>
          <p:cNvSpPr/>
          <p:nvPr/>
        </p:nvSpPr>
        <p:spPr>
          <a:xfrm>
            <a:off x="7891200" y="4297680"/>
            <a:ext cx="3126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標準と製品固有を分ける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40"/>
          <p:cNvSpPr/>
          <p:nvPr/>
        </p:nvSpPr>
        <p:spPr>
          <a:xfrm>
            <a:off x="4023360" y="5175360"/>
            <a:ext cx="7158960" cy="785520"/>
          </a:xfrm>
          <a:prstGeom prst="roundRect">
            <a:avLst>
              <a:gd name="adj" fmla="val 8140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41"/>
          <p:cNvSpPr/>
          <p:nvPr/>
        </p:nvSpPr>
        <p:spPr>
          <a:xfrm>
            <a:off x="4206240" y="5303520"/>
            <a:ext cx="67932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36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の役割：決められた網羅基準に従って、条件列挙・組合せ展開のコストを下げる</a:t>
            </a:r>
            <a:endParaRPr lang="en-US" sz="1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42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43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22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取り組み：設計ガイドラインと評価基準で最適化する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「高速化して」では局所最適化になる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5"/>
          <p:cNvSpPr/>
          <p:nvPr/>
        </p:nvSpPr>
        <p:spPr>
          <a:xfrm>
            <a:off x="567000" y="1170360"/>
            <a:ext cx="3153960" cy="4982760"/>
          </a:xfrm>
          <a:prstGeom prst="roundRect">
            <a:avLst>
              <a:gd name="adj" fmla="val 2609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Shape 6"/>
          <p:cNvSpPr/>
          <p:nvPr/>
        </p:nvSpPr>
        <p:spPr>
          <a:xfrm>
            <a:off x="768240" y="1371600"/>
            <a:ext cx="1681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7"/>
          <p:cNvSpPr/>
          <p:nvPr/>
        </p:nvSpPr>
        <p:spPr>
          <a:xfrm>
            <a:off x="850320" y="1422000"/>
            <a:ext cx="1517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8"/>
          <p:cNvSpPr/>
          <p:nvPr/>
        </p:nvSpPr>
        <p:spPr>
          <a:xfrm>
            <a:off x="795600" y="2066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9"/>
          <p:cNvSpPr/>
          <p:nvPr/>
        </p:nvSpPr>
        <p:spPr>
          <a:xfrm>
            <a:off x="1024200" y="194760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一番目立つボトルネックだけ直す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10"/>
          <p:cNvSpPr/>
          <p:nvPr/>
        </p:nvSpPr>
        <p:spPr>
          <a:xfrm>
            <a:off x="795600" y="2624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11"/>
          <p:cNvSpPr/>
          <p:nvPr/>
        </p:nvSpPr>
        <p:spPr>
          <a:xfrm>
            <a:off x="1024200" y="250560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速度のために</a:t>
            </a:r>
            <a:r>
              <a:rPr lang="en-US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RAM / ROM</a:t>
            </a: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を増やす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Shape 12"/>
          <p:cNvSpPr/>
          <p:nvPr/>
        </p:nvSpPr>
        <p:spPr>
          <a:xfrm>
            <a:off x="795600" y="318204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13"/>
          <p:cNvSpPr/>
          <p:nvPr/>
        </p:nvSpPr>
        <p:spPr>
          <a:xfrm>
            <a:off x="1024200" y="306324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Python</a:t>
            </a: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改善を</a:t>
            </a:r>
            <a:r>
              <a:rPr lang="en-US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C++</a:t>
            </a: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にも有効とみなす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16"/>
          <p:cNvSpPr/>
          <p:nvPr/>
        </p:nvSpPr>
        <p:spPr>
          <a:xfrm>
            <a:off x="4023360" y="1188720"/>
            <a:ext cx="7451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対策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17"/>
          <p:cNvSpPr/>
          <p:nvPr/>
        </p:nvSpPr>
        <p:spPr>
          <a:xfrm>
            <a:off x="4023360" y="1417320"/>
            <a:ext cx="74516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計測結果 </a:t>
            </a:r>
            <a:r>
              <a:rPr lang="en-US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+ </a:t>
            </a: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資源予算 </a:t>
            </a:r>
            <a:r>
              <a:rPr lang="en-US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+ </a:t>
            </a: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設計ガイドライン </a:t>
            </a:r>
            <a:r>
              <a:rPr lang="en-US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+ </a:t>
            </a: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検証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18"/>
          <p:cNvSpPr/>
          <p:nvPr/>
        </p:nvSpPr>
        <p:spPr>
          <a:xfrm>
            <a:off x="4023360" y="2011680"/>
            <a:ext cx="1572120" cy="2047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19"/>
          <p:cNvSpPr/>
          <p:nvPr/>
        </p:nvSpPr>
        <p:spPr>
          <a:xfrm>
            <a:off x="4507920" y="2267640"/>
            <a:ext cx="602640" cy="60264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20"/>
          <p:cNvSpPr/>
          <p:nvPr/>
        </p:nvSpPr>
        <p:spPr>
          <a:xfrm>
            <a:off x="4507920" y="2468880"/>
            <a:ext cx="602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21"/>
          <p:cNvSpPr/>
          <p:nvPr/>
        </p:nvSpPr>
        <p:spPr>
          <a:xfrm>
            <a:off x="4187880" y="2980800"/>
            <a:ext cx="1242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計測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22"/>
          <p:cNvSpPr/>
          <p:nvPr/>
        </p:nvSpPr>
        <p:spPr>
          <a:xfrm>
            <a:off x="4187880" y="3383280"/>
            <a:ext cx="12427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実測でボトルネック候補を特定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23"/>
          <p:cNvSpPr/>
          <p:nvPr/>
        </p:nvSpPr>
        <p:spPr>
          <a:xfrm>
            <a:off x="5595840" y="3017520"/>
            <a:ext cx="21060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Shape 24"/>
          <p:cNvSpPr/>
          <p:nvPr/>
        </p:nvSpPr>
        <p:spPr>
          <a:xfrm>
            <a:off x="5806440" y="2011680"/>
            <a:ext cx="1572120" cy="2047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Shape 25"/>
          <p:cNvSpPr/>
          <p:nvPr/>
        </p:nvSpPr>
        <p:spPr>
          <a:xfrm>
            <a:off x="6291000" y="2267640"/>
            <a:ext cx="602640" cy="60264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26"/>
          <p:cNvSpPr/>
          <p:nvPr/>
        </p:nvSpPr>
        <p:spPr>
          <a:xfrm>
            <a:off x="6291000" y="2468880"/>
            <a:ext cx="602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27"/>
          <p:cNvSpPr/>
          <p:nvPr/>
        </p:nvSpPr>
        <p:spPr>
          <a:xfrm>
            <a:off x="5970960" y="2980800"/>
            <a:ext cx="1242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制約照合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28"/>
          <p:cNvSpPr/>
          <p:nvPr/>
        </p:nvSpPr>
        <p:spPr>
          <a:xfrm>
            <a:off x="5970960" y="3383280"/>
            <a:ext cx="12427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RAM / ROM / </a:t>
            </a:r>
            <a:r>
              <a:rPr lang="ja-JP" sz="10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設計境界を確認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29"/>
          <p:cNvSpPr/>
          <p:nvPr/>
        </p:nvSpPr>
        <p:spPr>
          <a:xfrm>
            <a:off x="7378920" y="3017520"/>
            <a:ext cx="21060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30"/>
          <p:cNvSpPr/>
          <p:nvPr/>
        </p:nvSpPr>
        <p:spPr>
          <a:xfrm>
            <a:off x="7589520" y="2011680"/>
            <a:ext cx="1572120" cy="2047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31"/>
          <p:cNvSpPr/>
          <p:nvPr/>
        </p:nvSpPr>
        <p:spPr>
          <a:xfrm>
            <a:off x="8074080" y="2267640"/>
            <a:ext cx="602640" cy="60264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32"/>
          <p:cNvSpPr/>
          <p:nvPr/>
        </p:nvSpPr>
        <p:spPr>
          <a:xfrm>
            <a:off x="8074080" y="2468880"/>
            <a:ext cx="602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33"/>
          <p:cNvSpPr/>
          <p:nvPr/>
        </p:nvSpPr>
        <p:spPr>
          <a:xfrm>
            <a:off x="7754040" y="2980800"/>
            <a:ext cx="1242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候補比較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34"/>
          <p:cNvSpPr/>
          <p:nvPr/>
        </p:nvSpPr>
        <p:spPr>
          <a:xfrm>
            <a:off x="7754040" y="3383280"/>
            <a:ext cx="12427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効果・資源差・複雑さを比較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Shape 35"/>
          <p:cNvSpPr/>
          <p:nvPr/>
        </p:nvSpPr>
        <p:spPr>
          <a:xfrm>
            <a:off x="9162000" y="3017520"/>
            <a:ext cx="21060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36"/>
          <p:cNvSpPr/>
          <p:nvPr/>
        </p:nvSpPr>
        <p:spPr>
          <a:xfrm>
            <a:off x="9372600" y="2011680"/>
            <a:ext cx="1572120" cy="20476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Shape 37"/>
          <p:cNvSpPr/>
          <p:nvPr/>
        </p:nvSpPr>
        <p:spPr>
          <a:xfrm>
            <a:off x="9857160" y="2267640"/>
            <a:ext cx="602640" cy="602640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38"/>
          <p:cNvSpPr/>
          <p:nvPr/>
        </p:nvSpPr>
        <p:spPr>
          <a:xfrm>
            <a:off x="9857160" y="2468880"/>
            <a:ext cx="6026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39"/>
          <p:cNvSpPr/>
          <p:nvPr/>
        </p:nvSpPr>
        <p:spPr>
          <a:xfrm>
            <a:off x="9537120" y="2980800"/>
            <a:ext cx="1242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再検証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Text 40"/>
          <p:cNvSpPr/>
          <p:nvPr/>
        </p:nvSpPr>
        <p:spPr>
          <a:xfrm>
            <a:off x="9537120" y="3383280"/>
            <a:ext cx="1242720" cy="49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同条件でテスト </a:t>
            </a:r>
            <a:r>
              <a:rPr lang="en-US" sz="10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0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ベンチマーク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41"/>
          <p:cNvSpPr/>
          <p:nvPr/>
        </p:nvSpPr>
        <p:spPr>
          <a:xfrm>
            <a:off x="4023360" y="4590360"/>
            <a:ext cx="7149960" cy="968400"/>
          </a:xfrm>
          <a:prstGeom prst="roundRect">
            <a:avLst>
              <a:gd name="adj" fmla="val 6604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42"/>
          <p:cNvSpPr/>
          <p:nvPr/>
        </p:nvSpPr>
        <p:spPr>
          <a:xfrm>
            <a:off x="4206240" y="4718160"/>
            <a:ext cx="67842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計測は仮説の根拠。</a:t>
            </a:r>
            <a:r>
              <a:rPr lang="en-US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Python</a:t>
            </a:r>
            <a:r>
              <a:rPr lang="ja-JP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ホスト上の</a:t>
            </a:r>
            <a:r>
              <a:rPr lang="en-US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VTune</a:t>
            </a:r>
            <a:r>
              <a:rPr lang="ja-JP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結果を実機</a:t>
            </a:r>
            <a:r>
              <a:rPr lang="en-US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C++</a:t>
            </a:r>
            <a:r>
              <a:rPr lang="ja-JP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の時間・</a:t>
            </a:r>
            <a:r>
              <a:rPr lang="en-US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SRAM</a:t>
            </a:r>
            <a:r>
              <a:rPr lang="ja-JP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・</a:t>
            </a:r>
            <a:r>
              <a:rPr lang="en-US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Flash</a:t>
            </a:r>
            <a:r>
              <a:rPr lang="ja-JP" sz="11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使用量と同一視せず、対象ビルドと同条件ベンチマークで再検証する。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43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Text 44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23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取り組み：設計原則を基準にストレスを解体する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「きれいにして」では低リスクな記述修正に寄る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仕組み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Shape 5"/>
          <p:cNvSpPr/>
          <p:nvPr/>
        </p:nvSpPr>
        <p:spPr>
          <a:xfrm>
            <a:off x="567000" y="1170360"/>
            <a:ext cx="3153960" cy="4982760"/>
          </a:xfrm>
          <a:prstGeom prst="roundRect">
            <a:avLst>
              <a:gd name="adj" fmla="val 2609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6"/>
          <p:cNvSpPr/>
          <p:nvPr/>
        </p:nvSpPr>
        <p:spPr>
          <a:xfrm>
            <a:off x="768240" y="1371600"/>
            <a:ext cx="1681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7"/>
          <p:cNvSpPr/>
          <p:nvPr/>
        </p:nvSpPr>
        <p:spPr>
          <a:xfrm>
            <a:off x="850320" y="1422000"/>
            <a:ext cx="1517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8"/>
          <p:cNvSpPr/>
          <p:nvPr/>
        </p:nvSpPr>
        <p:spPr>
          <a:xfrm>
            <a:off x="795600" y="2066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9"/>
          <p:cNvSpPr/>
          <p:nvPr/>
        </p:nvSpPr>
        <p:spPr>
          <a:xfrm>
            <a:off x="1024200" y="194760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命名・重複・局所整理に寄る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10"/>
          <p:cNvSpPr/>
          <p:nvPr/>
        </p:nvSpPr>
        <p:spPr>
          <a:xfrm>
            <a:off x="795600" y="26244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11"/>
          <p:cNvSpPr/>
          <p:nvPr/>
        </p:nvSpPr>
        <p:spPr>
          <a:xfrm>
            <a:off x="1024200" y="250560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巨大クラス </a:t>
            </a:r>
            <a:r>
              <a:rPr lang="en-US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責務集中に踏み込まない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12"/>
          <p:cNvSpPr/>
          <p:nvPr/>
        </p:nvSpPr>
        <p:spPr>
          <a:xfrm>
            <a:off x="795600" y="318204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13"/>
          <p:cNvSpPr/>
          <p:nvPr/>
        </p:nvSpPr>
        <p:spPr>
          <a:xfrm>
            <a:off x="1024200" y="3063240"/>
            <a:ext cx="2468160" cy="55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依存方向の歪みを温存する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14"/>
          <p:cNvSpPr/>
          <p:nvPr/>
        </p:nvSpPr>
        <p:spPr>
          <a:xfrm>
            <a:off x="4023360" y="1188720"/>
            <a:ext cx="74516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対策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15"/>
          <p:cNvSpPr/>
          <p:nvPr/>
        </p:nvSpPr>
        <p:spPr>
          <a:xfrm>
            <a:off x="4023360" y="1417320"/>
            <a:ext cx="74516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クリーンアーキテクチャ </a:t>
            </a:r>
            <a:r>
              <a:rPr lang="en-US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/ SOLID</a:t>
            </a:r>
            <a:r>
              <a:rPr lang="ja-JP" sz="20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を「設計ストレス」の診断基準にする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16"/>
          <p:cNvSpPr/>
          <p:nvPr/>
        </p:nvSpPr>
        <p:spPr>
          <a:xfrm>
            <a:off x="4069080" y="1956960"/>
            <a:ext cx="2395080" cy="602640"/>
          </a:xfrm>
          <a:prstGeom prst="roundRect">
            <a:avLst>
              <a:gd name="adj" fmla="val 9091"/>
            </a:avLst>
          </a:prstGeom>
          <a:solidFill>
            <a:srgbClr val="FDE6E3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17"/>
          <p:cNvSpPr/>
          <p:nvPr/>
        </p:nvSpPr>
        <p:spPr>
          <a:xfrm>
            <a:off x="4224600" y="2103120"/>
            <a:ext cx="2084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責務集中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18"/>
          <p:cNvSpPr/>
          <p:nvPr/>
        </p:nvSpPr>
        <p:spPr>
          <a:xfrm>
            <a:off x="6464520" y="2258280"/>
            <a:ext cx="59436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19"/>
          <p:cNvSpPr/>
          <p:nvPr/>
        </p:nvSpPr>
        <p:spPr>
          <a:xfrm>
            <a:off x="7059240" y="1956960"/>
            <a:ext cx="3794040" cy="602640"/>
          </a:xfrm>
          <a:prstGeom prst="roundRect">
            <a:avLst>
              <a:gd name="adj" fmla="val 9091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Text 20"/>
          <p:cNvSpPr/>
          <p:nvPr/>
        </p:nvSpPr>
        <p:spPr>
          <a:xfrm>
            <a:off x="7223760" y="2103120"/>
            <a:ext cx="3474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コンポーネント分割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Shape 21"/>
          <p:cNvSpPr/>
          <p:nvPr/>
        </p:nvSpPr>
        <p:spPr>
          <a:xfrm>
            <a:off x="4069080" y="2797920"/>
            <a:ext cx="2395080" cy="602640"/>
          </a:xfrm>
          <a:prstGeom prst="roundRect">
            <a:avLst>
              <a:gd name="adj" fmla="val 9091"/>
            </a:avLst>
          </a:prstGeom>
          <a:solidFill>
            <a:srgbClr val="FDE6E3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22"/>
          <p:cNvSpPr/>
          <p:nvPr/>
        </p:nvSpPr>
        <p:spPr>
          <a:xfrm>
            <a:off x="4224600" y="2944440"/>
            <a:ext cx="2084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依存逆流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23"/>
          <p:cNvSpPr/>
          <p:nvPr/>
        </p:nvSpPr>
        <p:spPr>
          <a:xfrm>
            <a:off x="6464520" y="3099600"/>
            <a:ext cx="59436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Shape 24"/>
          <p:cNvSpPr/>
          <p:nvPr/>
        </p:nvSpPr>
        <p:spPr>
          <a:xfrm>
            <a:off x="7059240" y="2797920"/>
            <a:ext cx="3794040" cy="602640"/>
          </a:xfrm>
          <a:prstGeom prst="roundRect">
            <a:avLst>
              <a:gd name="adj" fmla="val 9091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25"/>
          <p:cNvSpPr/>
          <p:nvPr/>
        </p:nvSpPr>
        <p:spPr>
          <a:xfrm>
            <a:off x="7223760" y="2944440"/>
            <a:ext cx="3474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依存方向を修正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Shape 26"/>
          <p:cNvSpPr/>
          <p:nvPr/>
        </p:nvSpPr>
        <p:spPr>
          <a:xfrm>
            <a:off x="4069080" y="3639240"/>
            <a:ext cx="2395080" cy="602640"/>
          </a:xfrm>
          <a:prstGeom prst="roundRect">
            <a:avLst>
              <a:gd name="adj" fmla="val 9091"/>
            </a:avLst>
          </a:prstGeom>
          <a:solidFill>
            <a:srgbClr val="FDE6E3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27"/>
          <p:cNvSpPr/>
          <p:nvPr/>
        </p:nvSpPr>
        <p:spPr>
          <a:xfrm>
            <a:off x="4224600" y="3785760"/>
            <a:ext cx="2084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境界不整合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28"/>
          <p:cNvSpPr/>
          <p:nvPr/>
        </p:nvSpPr>
        <p:spPr>
          <a:xfrm>
            <a:off x="6464520" y="3940920"/>
            <a:ext cx="59436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29"/>
          <p:cNvSpPr/>
          <p:nvPr/>
        </p:nvSpPr>
        <p:spPr>
          <a:xfrm>
            <a:off x="7059240" y="3639240"/>
            <a:ext cx="3794040" cy="602640"/>
          </a:xfrm>
          <a:prstGeom prst="roundRect">
            <a:avLst>
              <a:gd name="adj" fmla="val 9091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30"/>
          <p:cNvSpPr/>
          <p:nvPr/>
        </p:nvSpPr>
        <p:spPr>
          <a:xfrm>
            <a:off x="7223760" y="3785760"/>
            <a:ext cx="3474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HAL / </a:t>
            </a:r>
            <a:r>
              <a:rPr lang="ja-JP" sz="128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ポートへ戻す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Shape 31"/>
          <p:cNvSpPr/>
          <p:nvPr/>
        </p:nvSpPr>
        <p:spPr>
          <a:xfrm>
            <a:off x="4069080" y="4480560"/>
            <a:ext cx="2395080" cy="602640"/>
          </a:xfrm>
          <a:prstGeom prst="roundRect">
            <a:avLst>
              <a:gd name="adj" fmla="val 9091"/>
            </a:avLst>
          </a:prstGeom>
          <a:solidFill>
            <a:srgbClr val="FDE6E3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32"/>
          <p:cNvSpPr/>
          <p:nvPr/>
        </p:nvSpPr>
        <p:spPr>
          <a:xfrm>
            <a:off x="4224600" y="4626720"/>
            <a:ext cx="20840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組み込みに重い抽象化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33"/>
          <p:cNvSpPr/>
          <p:nvPr/>
        </p:nvSpPr>
        <p:spPr>
          <a:xfrm>
            <a:off x="6464520" y="4782240"/>
            <a:ext cx="594360" cy="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34"/>
          <p:cNvSpPr/>
          <p:nvPr/>
        </p:nvSpPr>
        <p:spPr>
          <a:xfrm>
            <a:off x="7059240" y="4480560"/>
            <a:ext cx="3794040" cy="602640"/>
          </a:xfrm>
          <a:prstGeom prst="roundRect">
            <a:avLst>
              <a:gd name="adj" fmla="val 9091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35"/>
          <p:cNvSpPr/>
          <p:nvPr/>
        </p:nvSpPr>
        <p:spPr>
          <a:xfrm>
            <a:off x="7223760" y="4626720"/>
            <a:ext cx="3474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静的</a:t>
            </a:r>
            <a:r>
              <a:rPr lang="en-US" sz="128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DI / </a:t>
            </a:r>
            <a:r>
              <a:rPr lang="ja-JP" sz="128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軽量構造へ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36"/>
          <p:cNvSpPr/>
          <p:nvPr/>
        </p:nvSpPr>
        <p:spPr>
          <a:xfrm>
            <a:off x="4069080" y="5413320"/>
            <a:ext cx="6784200" cy="749160"/>
          </a:xfrm>
          <a:prstGeom prst="roundRect">
            <a:avLst>
              <a:gd name="adj" fmla="val 8537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37"/>
          <p:cNvSpPr/>
          <p:nvPr/>
        </p:nvSpPr>
        <p:spPr>
          <a:xfrm>
            <a:off x="4251960" y="5541120"/>
            <a:ext cx="641844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8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目的は表面的な清掃ではなく、責務集中・依存逆流・境界不整合を解体すること。抽象化のために動的確保・仮想ディスパッチ等を増やさない。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38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39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24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開発初期のプロセスループとその破綻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設計を積み上げてから実装する想定だった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FFF0DF"/>
          </a:solidFill>
          <a:ln w="12700">
            <a:solidFill>
              <a:srgbClr val="FFF0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プロセス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5"/>
          <p:cNvSpPr/>
          <p:nvPr/>
        </p:nvSpPr>
        <p:spPr>
          <a:xfrm>
            <a:off x="749880" y="1901880"/>
            <a:ext cx="2239560" cy="932040"/>
          </a:xfrm>
          <a:prstGeom prst="roundRect">
            <a:avLst>
              <a:gd name="adj" fmla="val 6863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6"/>
          <p:cNvSpPr/>
          <p:nvPr/>
        </p:nvSpPr>
        <p:spPr>
          <a:xfrm>
            <a:off x="859680" y="1993320"/>
            <a:ext cx="20199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目標設定・基本設計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Shape 7"/>
          <p:cNvSpPr/>
          <p:nvPr/>
        </p:nvSpPr>
        <p:spPr>
          <a:xfrm>
            <a:off x="2989800" y="2368080"/>
            <a:ext cx="54864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8"/>
          <p:cNvSpPr/>
          <p:nvPr/>
        </p:nvSpPr>
        <p:spPr>
          <a:xfrm>
            <a:off x="3538800" y="1901880"/>
            <a:ext cx="2239560" cy="932040"/>
          </a:xfrm>
          <a:prstGeom prst="roundRect">
            <a:avLst>
              <a:gd name="adj" fmla="val 6863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Text 9"/>
          <p:cNvSpPr/>
          <p:nvPr/>
        </p:nvSpPr>
        <p:spPr>
          <a:xfrm>
            <a:off x="3648600" y="1993320"/>
            <a:ext cx="20199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形式検証・概念実装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10"/>
          <p:cNvSpPr/>
          <p:nvPr/>
        </p:nvSpPr>
        <p:spPr>
          <a:xfrm>
            <a:off x="5778720" y="2368080"/>
            <a:ext cx="54864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11"/>
          <p:cNvSpPr/>
          <p:nvPr/>
        </p:nvSpPr>
        <p:spPr>
          <a:xfrm>
            <a:off x="6327720" y="1901880"/>
            <a:ext cx="2239560" cy="932040"/>
          </a:xfrm>
          <a:prstGeom prst="roundRect">
            <a:avLst>
              <a:gd name="adj" fmla="val 6863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12"/>
          <p:cNvSpPr/>
          <p:nvPr/>
        </p:nvSpPr>
        <p:spPr>
          <a:xfrm>
            <a:off x="6437520" y="1993320"/>
            <a:ext cx="20199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テスト設計・検証コード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13"/>
          <p:cNvSpPr/>
          <p:nvPr/>
        </p:nvSpPr>
        <p:spPr>
          <a:xfrm>
            <a:off x="8567640" y="2368080"/>
            <a:ext cx="54864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14"/>
          <p:cNvSpPr/>
          <p:nvPr/>
        </p:nvSpPr>
        <p:spPr>
          <a:xfrm>
            <a:off x="9116640" y="1901880"/>
            <a:ext cx="2239560" cy="932040"/>
          </a:xfrm>
          <a:prstGeom prst="roundRect">
            <a:avLst>
              <a:gd name="adj" fmla="val 6863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15"/>
          <p:cNvSpPr/>
          <p:nvPr/>
        </p:nvSpPr>
        <p:spPr>
          <a:xfrm>
            <a:off x="9226440" y="1993320"/>
            <a:ext cx="20199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実装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Shape 16"/>
          <p:cNvSpPr/>
          <p:nvPr/>
        </p:nvSpPr>
        <p:spPr>
          <a:xfrm>
            <a:off x="10533600" y="2834640"/>
            <a:ext cx="360" cy="1097280"/>
          </a:xfrm>
          <a:prstGeom prst="line">
            <a:avLst/>
          </a:prstGeom>
          <a:ln w="15240">
            <a:solidFill>
              <a:srgbClr val="D94B3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17"/>
          <p:cNvSpPr/>
          <p:nvPr/>
        </p:nvSpPr>
        <p:spPr>
          <a:xfrm flipH="1">
            <a:off x="1874520" y="3931920"/>
            <a:ext cx="8659080" cy="360"/>
          </a:xfrm>
          <a:prstGeom prst="line">
            <a:avLst/>
          </a:prstGeom>
          <a:ln w="15240">
            <a:solidFill>
              <a:srgbClr val="D94B3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Shape 18"/>
          <p:cNvSpPr/>
          <p:nvPr/>
        </p:nvSpPr>
        <p:spPr>
          <a:xfrm flipV="1">
            <a:off x="1874520" y="2834640"/>
            <a:ext cx="360" cy="1097280"/>
          </a:xfrm>
          <a:prstGeom prst="line">
            <a:avLst/>
          </a:prstGeom>
          <a:ln w="15240">
            <a:solidFill>
              <a:srgbClr val="D94B3D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19"/>
          <p:cNvSpPr/>
          <p:nvPr/>
        </p:nvSpPr>
        <p:spPr>
          <a:xfrm>
            <a:off x="4846320" y="3712320"/>
            <a:ext cx="235836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 20"/>
          <p:cNvSpPr/>
          <p:nvPr/>
        </p:nvSpPr>
        <p:spPr>
          <a:xfrm>
            <a:off x="4928760" y="3762720"/>
            <a:ext cx="21938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不具合・技術的課題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Shape 21"/>
          <p:cNvSpPr/>
          <p:nvPr/>
        </p:nvSpPr>
        <p:spPr>
          <a:xfrm>
            <a:off x="749880" y="4727520"/>
            <a:ext cx="340092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Shape 22"/>
          <p:cNvSpPr/>
          <p:nvPr/>
        </p:nvSpPr>
        <p:spPr>
          <a:xfrm>
            <a:off x="914400" y="4892040"/>
            <a:ext cx="200520" cy="2005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23"/>
          <p:cNvSpPr/>
          <p:nvPr/>
        </p:nvSpPr>
        <p:spPr>
          <a:xfrm>
            <a:off x="1207080" y="4873680"/>
            <a:ext cx="2779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要求とのつながりが薄れる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24"/>
          <p:cNvSpPr/>
          <p:nvPr/>
        </p:nvSpPr>
        <p:spPr>
          <a:xfrm>
            <a:off x="914400" y="5221080"/>
            <a:ext cx="3071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検証ステップを刻むほど源流要求との対応がぼやける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25"/>
          <p:cNvSpPr/>
          <p:nvPr/>
        </p:nvSpPr>
        <p:spPr>
          <a:xfrm>
            <a:off x="4425840" y="4727520"/>
            <a:ext cx="340092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26"/>
          <p:cNvSpPr/>
          <p:nvPr/>
        </p:nvSpPr>
        <p:spPr>
          <a:xfrm>
            <a:off x="4590360" y="4892040"/>
            <a:ext cx="200520" cy="2005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 27"/>
          <p:cNvSpPr/>
          <p:nvPr/>
        </p:nvSpPr>
        <p:spPr>
          <a:xfrm>
            <a:off x="4883040" y="4873680"/>
            <a:ext cx="2779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仕様解像度が落ちる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28"/>
          <p:cNvSpPr/>
          <p:nvPr/>
        </p:nvSpPr>
        <p:spPr>
          <a:xfrm>
            <a:off x="4590360" y="5221080"/>
            <a:ext cx="3071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段階ごとの成果物へ変換するたび、設計意図が薄まる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29"/>
          <p:cNvSpPr/>
          <p:nvPr/>
        </p:nvSpPr>
        <p:spPr>
          <a:xfrm>
            <a:off x="8101440" y="4727520"/>
            <a:ext cx="3400920" cy="1078200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30"/>
          <p:cNvSpPr/>
          <p:nvPr/>
        </p:nvSpPr>
        <p:spPr>
          <a:xfrm>
            <a:off x="8266320" y="4892040"/>
            <a:ext cx="200520" cy="2005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31"/>
          <p:cNvSpPr/>
          <p:nvPr/>
        </p:nvSpPr>
        <p:spPr>
          <a:xfrm>
            <a:off x="8558640" y="4873680"/>
            <a:ext cx="2779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自動化しにくい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32"/>
          <p:cNvSpPr/>
          <p:nvPr/>
        </p:nvSpPr>
        <p:spPr>
          <a:xfrm>
            <a:off x="8266320" y="5221080"/>
            <a:ext cx="3071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文書・形式モデル・概念実装だけでは実行可能なフィードバックが少ない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33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34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文書量の増加とプロセスの形骸化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量を増やすだけでは、品質プロセスは回らない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FFF0DF"/>
          </a:solidFill>
          <a:ln w="12700">
            <a:solidFill>
              <a:srgbClr val="FFF0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プロセス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5"/>
          <p:cNvSpPr/>
          <p:nvPr/>
        </p:nvSpPr>
        <p:spPr>
          <a:xfrm>
            <a:off x="658440" y="1225440"/>
            <a:ext cx="5074200" cy="4882320"/>
          </a:xfrm>
          <a:prstGeom prst="roundRect">
            <a:avLst>
              <a:gd name="adj" fmla="val 1685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Shape 6"/>
          <p:cNvSpPr/>
          <p:nvPr/>
        </p:nvSpPr>
        <p:spPr>
          <a:xfrm>
            <a:off x="914400" y="1481400"/>
            <a:ext cx="16819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7"/>
          <p:cNvSpPr/>
          <p:nvPr/>
        </p:nvSpPr>
        <p:spPr>
          <a:xfrm>
            <a:off x="996840" y="1531800"/>
            <a:ext cx="151704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がよくやる間違い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8"/>
          <p:cNvSpPr/>
          <p:nvPr/>
        </p:nvSpPr>
        <p:spPr>
          <a:xfrm>
            <a:off x="914400" y="220356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9"/>
          <p:cNvSpPr/>
          <p:nvPr/>
        </p:nvSpPr>
        <p:spPr>
          <a:xfrm>
            <a:off x="1143000" y="2084760"/>
            <a:ext cx="43243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1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実装だけ先に進め、後で文書を直すつもりで置き去りにする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Shape 10"/>
          <p:cNvSpPr/>
          <p:nvPr/>
        </p:nvSpPr>
        <p:spPr>
          <a:xfrm>
            <a:off x="914400" y="288036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1"/>
          <p:cNvSpPr/>
          <p:nvPr/>
        </p:nvSpPr>
        <p:spPr>
          <a:xfrm>
            <a:off x="1143000" y="2761560"/>
            <a:ext cx="43243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1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大量に文書を生成しても、相互の整合性確認を継続しない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12"/>
          <p:cNvSpPr/>
          <p:nvPr/>
        </p:nvSpPr>
        <p:spPr>
          <a:xfrm>
            <a:off x="914400" y="355716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13"/>
          <p:cNvSpPr/>
          <p:nvPr/>
        </p:nvSpPr>
        <p:spPr>
          <a:xfrm>
            <a:off x="1143000" y="3438000"/>
            <a:ext cx="43243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1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一度「確認済み」とした成果物を変更後も再確認しない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Shape 14"/>
          <p:cNvSpPr/>
          <p:nvPr/>
        </p:nvSpPr>
        <p:spPr>
          <a:xfrm>
            <a:off x="914400" y="423360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5"/>
          <p:cNvSpPr/>
          <p:nvPr/>
        </p:nvSpPr>
        <p:spPr>
          <a:xfrm>
            <a:off x="1143000" y="4114800"/>
            <a:ext cx="432432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1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仕様に反していてもコードが動けば見逃す</a:t>
            </a:r>
            <a:endParaRPr lang="en-US" sz="1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16"/>
          <p:cNvSpPr/>
          <p:nvPr/>
        </p:nvSpPr>
        <p:spPr>
          <a:xfrm>
            <a:off x="6053400" y="1225440"/>
            <a:ext cx="5485680" cy="4882320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 17"/>
          <p:cNvSpPr/>
          <p:nvPr/>
        </p:nvSpPr>
        <p:spPr>
          <a:xfrm>
            <a:off x="6346080" y="1517760"/>
            <a:ext cx="3108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プロセスがどう壊れたか</a:t>
            </a:r>
            <a:endParaRPr lang="en-US" sz="1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18"/>
          <p:cNvSpPr/>
          <p:nvPr/>
        </p:nvSpPr>
        <p:spPr>
          <a:xfrm>
            <a:off x="6346080" y="2331720"/>
            <a:ext cx="1663560" cy="6577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 19"/>
          <p:cNvSpPr/>
          <p:nvPr/>
        </p:nvSpPr>
        <p:spPr>
          <a:xfrm>
            <a:off x="6455520" y="2423160"/>
            <a:ext cx="1443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文書量の増加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Shape 20"/>
          <p:cNvSpPr/>
          <p:nvPr/>
        </p:nvSpPr>
        <p:spPr>
          <a:xfrm>
            <a:off x="8010000" y="2660760"/>
            <a:ext cx="237600" cy="594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Shape 21"/>
          <p:cNvSpPr/>
          <p:nvPr/>
        </p:nvSpPr>
        <p:spPr>
          <a:xfrm>
            <a:off x="7562160" y="2926080"/>
            <a:ext cx="1663560" cy="6577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22"/>
          <p:cNvSpPr/>
          <p:nvPr/>
        </p:nvSpPr>
        <p:spPr>
          <a:xfrm>
            <a:off x="7671960" y="3017520"/>
            <a:ext cx="1443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更新追跡の崩壊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Shape 23"/>
          <p:cNvSpPr/>
          <p:nvPr/>
        </p:nvSpPr>
        <p:spPr>
          <a:xfrm>
            <a:off x="9226080" y="3255120"/>
            <a:ext cx="237960" cy="594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24"/>
          <p:cNvSpPr/>
          <p:nvPr/>
        </p:nvSpPr>
        <p:spPr>
          <a:xfrm>
            <a:off x="8778240" y="3520440"/>
            <a:ext cx="1663560" cy="6577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4B3D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Text 25"/>
          <p:cNvSpPr/>
          <p:nvPr/>
        </p:nvSpPr>
        <p:spPr>
          <a:xfrm>
            <a:off x="8888040" y="3611880"/>
            <a:ext cx="1443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検証負荷の肥大化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Shape 26"/>
          <p:cNvSpPr/>
          <p:nvPr/>
        </p:nvSpPr>
        <p:spPr>
          <a:xfrm>
            <a:off x="10442160" y="3849480"/>
            <a:ext cx="237960" cy="59436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Shape 27"/>
          <p:cNvSpPr/>
          <p:nvPr/>
        </p:nvSpPr>
        <p:spPr>
          <a:xfrm>
            <a:off x="9994320" y="4114800"/>
            <a:ext cx="1663560" cy="65772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7B61C9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 28"/>
          <p:cNvSpPr/>
          <p:nvPr/>
        </p:nvSpPr>
        <p:spPr>
          <a:xfrm>
            <a:off x="10104120" y="4206240"/>
            <a:ext cx="14439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9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プロセス形骸化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Shape 29"/>
          <p:cNvSpPr/>
          <p:nvPr/>
        </p:nvSpPr>
        <p:spPr>
          <a:xfrm>
            <a:off x="6400800" y="4937760"/>
            <a:ext cx="4772520" cy="657720"/>
          </a:xfrm>
          <a:prstGeom prst="roundRect">
            <a:avLst>
              <a:gd name="adj" fmla="val 9722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 30"/>
          <p:cNvSpPr/>
          <p:nvPr/>
        </p:nvSpPr>
        <p:spPr>
          <a:xfrm>
            <a:off x="6583680" y="5065920"/>
            <a:ext cx="440676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本質：ドキュメント量ではなく、正しさを継続的に強制する仕組みが必要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31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Text 32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26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7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途中から進め方を変えた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大きな工程から、小さなスパイラルへ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FFF0DF"/>
          </a:solidFill>
          <a:ln w="12700">
            <a:solidFill>
              <a:srgbClr val="FFF0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プロセス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Shape 5"/>
          <p:cNvSpPr/>
          <p:nvPr/>
        </p:nvSpPr>
        <p:spPr>
          <a:xfrm>
            <a:off x="658440" y="1280160"/>
            <a:ext cx="4617000" cy="4479840"/>
          </a:xfrm>
          <a:prstGeom prst="roundRect">
            <a:avLst>
              <a:gd name="adj" fmla="val 1837"/>
            </a:avLst>
          </a:prstGeom>
          <a:solidFill>
            <a:srgbClr val="FFF8F6"/>
          </a:solidFill>
          <a:ln w="12700">
            <a:solidFill>
              <a:srgbClr val="FDE6E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Shape 6"/>
          <p:cNvSpPr/>
          <p:nvPr/>
        </p:nvSpPr>
        <p:spPr>
          <a:xfrm>
            <a:off x="932760" y="1572840"/>
            <a:ext cx="1005120" cy="291960"/>
          </a:xfrm>
          <a:prstGeom prst="roundRect">
            <a:avLst>
              <a:gd name="adj" fmla="val 50000"/>
            </a:avLst>
          </a:prstGeom>
          <a:solidFill>
            <a:srgbClr val="FDE6E3"/>
          </a:solidFill>
          <a:ln w="12700">
            <a:solidFill>
              <a:srgbClr val="FDE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Text 7"/>
          <p:cNvSpPr/>
          <p:nvPr/>
        </p:nvSpPr>
        <p:spPr>
          <a:xfrm>
            <a:off x="1014840" y="1623240"/>
            <a:ext cx="840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D94B3D"/>
                </a:solidFill>
                <a:effectLst/>
                <a:uFillTx/>
                <a:latin typeface="Noto Sans CJK JP"/>
                <a:ea typeface="Noto Sans CJK JP"/>
              </a:rPr>
              <a:t>従来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 8"/>
          <p:cNvSpPr/>
          <p:nvPr/>
        </p:nvSpPr>
        <p:spPr>
          <a:xfrm>
            <a:off x="932760" y="2048400"/>
            <a:ext cx="4041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8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段階を積み上げてから実装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Shape 9"/>
          <p:cNvSpPr/>
          <p:nvPr/>
        </p:nvSpPr>
        <p:spPr>
          <a:xfrm>
            <a:off x="932760" y="289872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10"/>
          <p:cNvSpPr/>
          <p:nvPr/>
        </p:nvSpPr>
        <p:spPr>
          <a:xfrm>
            <a:off x="1161360" y="2779920"/>
            <a:ext cx="3592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5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設計文書を先に整える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Shape 11"/>
          <p:cNvSpPr/>
          <p:nvPr/>
        </p:nvSpPr>
        <p:spPr>
          <a:xfrm>
            <a:off x="932760" y="335592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Text 12"/>
          <p:cNvSpPr/>
          <p:nvPr/>
        </p:nvSpPr>
        <p:spPr>
          <a:xfrm>
            <a:off x="1161360" y="3237120"/>
            <a:ext cx="3592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5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形式検証・概念実装を積む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Shape 13"/>
          <p:cNvSpPr/>
          <p:nvPr/>
        </p:nvSpPr>
        <p:spPr>
          <a:xfrm>
            <a:off x="932760" y="381312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Text 14"/>
          <p:cNvSpPr/>
          <p:nvPr/>
        </p:nvSpPr>
        <p:spPr>
          <a:xfrm>
            <a:off x="1161360" y="3694320"/>
            <a:ext cx="3592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5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テスト設計してから実装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Shape 15"/>
          <p:cNvSpPr/>
          <p:nvPr/>
        </p:nvSpPr>
        <p:spPr>
          <a:xfrm>
            <a:off x="932760" y="4270320"/>
            <a:ext cx="99720" cy="9972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040" tIns="26280" rIns="50040" bIns="262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2" name="Text 16"/>
          <p:cNvSpPr/>
          <p:nvPr/>
        </p:nvSpPr>
        <p:spPr>
          <a:xfrm>
            <a:off x="1161360" y="4151520"/>
            <a:ext cx="3592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50" b="0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変更時の伝播が重い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Shape 17"/>
          <p:cNvSpPr/>
          <p:nvPr/>
        </p:nvSpPr>
        <p:spPr>
          <a:xfrm>
            <a:off x="5650920" y="1280160"/>
            <a:ext cx="5888160" cy="4479840"/>
          </a:xfrm>
          <a:prstGeom prst="roundRect">
            <a:avLst>
              <a:gd name="adj" fmla="val 1837"/>
            </a:avLst>
          </a:prstGeom>
          <a:solidFill>
            <a:srgbClr val="F6FCF8"/>
          </a:solidFill>
          <a:ln w="12700">
            <a:solidFill>
              <a:srgbClr val="DFF4E8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Shape 18"/>
          <p:cNvSpPr/>
          <p:nvPr/>
        </p:nvSpPr>
        <p:spPr>
          <a:xfrm>
            <a:off x="5925240" y="1572840"/>
            <a:ext cx="1005120" cy="291960"/>
          </a:xfrm>
          <a:prstGeom prst="roundRect">
            <a:avLst>
              <a:gd name="adj" fmla="val 50000"/>
            </a:avLst>
          </a:prstGeom>
          <a:solidFill>
            <a:srgbClr val="DFF4E8"/>
          </a:solidFill>
          <a:ln w="12700">
            <a:solidFill>
              <a:srgbClr val="DFF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Text 19"/>
          <p:cNvSpPr/>
          <p:nvPr/>
        </p:nvSpPr>
        <p:spPr>
          <a:xfrm>
            <a:off x="6007680" y="1623240"/>
            <a:ext cx="8406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変更後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 20"/>
          <p:cNvSpPr/>
          <p:nvPr/>
        </p:nvSpPr>
        <p:spPr>
          <a:xfrm>
            <a:off x="5925240" y="2048400"/>
            <a:ext cx="51656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8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仕様・コード・テストを一組にする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Shape 21"/>
          <p:cNvSpPr/>
          <p:nvPr/>
        </p:nvSpPr>
        <p:spPr>
          <a:xfrm>
            <a:off x="6419160" y="3237120"/>
            <a:ext cx="1297800" cy="749160"/>
          </a:xfrm>
          <a:prstGeom prst="roundRect">
            <a:avLst>
              <a:gd name="adj" fmla="val 8537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 22"/>
          <p:cNvSpPr/>
          <p:nvPr/>
        </p:nvSpPr>
        <p:spPr>
          <a:xfrm>
            <a:off x="6528960" y="3328560"/>
            <a:ext cx="1078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Shape 23"/>
          <p:cNvSpPr/>
          <p:nvPr/>
        </p:nvSpPr>
        <p:spPr>
          <a:xfrm>
            <a:off x="8375760" y="3237120"/>
            <a:ext cx="1297800" cy="749160"/>
          </a:xfrm>
          <a:prstGeom prst="roundRect">
            <a:avLst>
              <a:gd name="adj" fmla="val 8537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24"/>
          <p:cNvSpPr/>
          <p:nvPr/>
        </p:nvSpPr>
        <p:spPr>
          <a:xfrm>
            <a:off x="8485560" y="3328560"/>
            <a:ext cx="10782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実装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25"/>
          <p:cNvSpPr/>
          <p:nvPr/>
        </p:nvSpPr>
        <p:spPr>
          <a:xfrm>
            <a:off x="10332720" y="3237120"/>
            <a:ext cx="1352520" cy="749160"/>
          </a:xfrm>
          <a:prstGeom prst="roundRect">
            <a:avLst>
              <a:gd name="adj" fmla="val 8537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Text 26"/>
          <p:cNvSpPr/>
          <p:nvPr/>
        </p:nvSpPr>
        <p:spPr>
          <a:xfrm>
            <a:off x="10442520" y="3328560"/>
            <a:ext cx="1133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テスト </a:t>
            </a:r>
            <a:r>
              <a:rPr lang="en-US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2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計測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Shape 27"/>
          <p:cNvSpPr/>
          <p:nvPr/>
        </p:nvSpPr>
        <p:spPr>
          <a:xfrm>
            <a:off x="7717320" y="3611880"/>
            <a:ext cx="65844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28"/>
          <p:cNvSpPr/>
          <p:nvPr/>
        </p:nvSpPr>
        <p:spPr>
          <a:xfrm>
            <a:off x="9674280" y="3611880"/>
            <a:ext cx="65844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Shape 29"/>
          <p:cNvSpPr/>
          <p:nvPr/>
        </p:nvSpPr>
        <p:spPr>
          <a:xfrm>
            <a:off x="11009160" y="3986640"/>
            <a:ext cx="360" cy="640080"/>
          </a:xfrm>
          <a:prstGeom prst="line">
            <a:avLst/>
          </a:prstGeom>
          <a:ln w="13970">
            <a:solidFill>
              <a:srgbClr val="20A66A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Shape 30"/>
          <p:cNvSpPr/>
          <p:nvPr/>
        </p:nvSpPr>
        <p:spPr>
          <a:xfrm flipH="1">
            <a:off x="7068240" y="4626720"/>
            <a:ext cx="3940920" cy="360"/>
          </a:xfrm>
          <a:prstGeom prst="line">
            <a:avLst/>
          </a:prstGeom>
          <a:ln w="13970">
            <a:solidFill>
              <a:srgbClr val="20A6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Shape 31"/>
          <p:cNvSpPr/>
          <p:nvPr/>
        </p:nvSpPr>
        <p:spPr>
          <a:xfrm flipV="1">
            <a:off x="7068240" y="3986640"/>
            <a:ext cx="360" cy="640080"/>
          </a:xfrm>
          <a:prstGeom prst="line">
            <a:avLst/>
          </a:prstGeom>
          <a:ln w="13970">
            <a:solidFill>
              <a:srgbClr val="20A66A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Text 32"/>
          <p:cNvSpPr/>
          <p:nvPr/>
        </p:nvSpPr>
        <p:spPr>
          <a:xfrm>
            <a:off x="6382440" y="4883040"/>
            <a:ext cx="4937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4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小さく区切って、結果を仕様へ戻す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33"/>
          <p:cNvSpPr/>
          <p:nvPr/>
        </p:nvSpPr>
        <p:spPr>
          <a:xfrm>
            <a:off x="1408320" y="5925240"/>
            <a:ext cx="9362880" cy="511200"/>
          </a:xfrm>
          <a:prstGeom prst="roundRect">
            <a:avLst>
              <a:gd name="adj" fmla="val 12500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Text 34"/>
          <p:cNvSpPr/>
          <p:nvPr/>
        </p:nvSpPr>
        <p:spPr>
          <a:xfrm>
            <a:off x="1591200" y="6053400"/>
            <a:ext cx="8997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4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既存コードベースを足場に、小さな実装・検証の循環を回す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Text 35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36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27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4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のトレーサビリティに沿ったフィードバックループ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どの階層を正本として更新するかを判断し、再び下位へ伝播する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FFF0DF"/>
          </a:solidFill>
          <a:ln w="12700">
            <a:solidFill>
              <a:srgbClr val="FFF0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プロセス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Shape 5"/>
          <p:cNvSpPr/>
          <p:nvPr/>
        </p:nvSpPr>
        <p:spPr>
          <a:xfrm>
            <a:off x="658440" y="1243440"/>
            <a:ext cx="3062520" cy="621000"/>
          </a:xfrm>
          <a:prstGeom prst="roundRect">
            <a:avLst>
              <a:gd name="adj" fmla="val 8824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Text 6"/>
          <p:cNvSpPr/>
          <p:nvPr/>
        </p:nvSpPr>
        <p:spPr>
          <a:xfrm>
            <a:off x="786240" y="1344240"/>
            <a:ext cx="712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0</a:t>
            </a:r>
            <a:r>
              <a:rPr lang="ja-JP" sz="105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Text 7"/>
          <p:cNvSpPr/>
          <p:nvPr/>
        </p:nvSpPr>
        <p:spPr>
          <a:xfrm>
            <a:off x="1508760" y="1334880"/>
            <a:ext cx="1755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システム要求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Text 8"/>
          <p:cNvSpPr/>
          <p:nvPr/>
        </p:nvSpPr>
        <p:spPr>
          <a:xfrm>
            <a:off x="2761560" y="1572840"/>
            <a:ext cx="749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89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最上位要求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Shape 9"/>
          <p:cNvSpPr/>
          <p:nvPr/>
        </p:nvSpPr>
        <p:spPr>
          <a:xfrm>
            <a:off x="2189880" y="1865160"/>
            <a:ext cx="360" cy="21960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Shape 10"/>
          <p:cNvSpPr/>
          <p:nvPr/>
        </p:nvSpPr>
        <p:spPr>
          <a:xfrm>
            <a:off x="658440" y="2084760"/>
            <a:ext cx="3062520" cy="621000"/>
          </a:xfrm>
          <a:prstGeom prst="roundRect">
            <a:avLst>
              <a:gd name="adj" fmla="val 8824"/>
            </a:avLst>
          </a:prstGeom>
          <a:solidFill>
            <a:srgbClr val="DCF5F7"/>
          </a:solidFill>
          <a:ln w="12700">
            <a:solidFill>
              <a:srgbClr val="00A7B5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Text 11"/>
          <p:cNvSpPr/>
          <p:nvPr/>
        </p:nvSpPr>
        <p:spPr>
          <a:xfrm>
            <a:off x="786240" y="2185560"/>
            <a:ext cx="712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Text 12"/>
          <p:cNvSpPr/>
          <p:nvPr/>
        </p:nvSpPr>
        <p:spPr>
          <a:xfrm>
            <a:off x="1508760" y="2176200"/>
            <a:ext cx="1755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主要コンポーネント仕様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Text 13"/>
          <p:cNvSpPr/>
          <p:nvPr/>
        </p:nvSpPr>
        <p:spPr>
          <a:xfrm>
            <a:off x="2761560" y="2414160"/>
            <a:ext cx="749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89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方針・契約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Shape 14"/>
          <p:cNvSpPr/>
          <p:nvPr/>
        </p:nvSpPr>
        <p:spPr>
          <a:xfrm>
            <a:off x="2189880" y="2706480"/>
            <a:ext cx="360" cy="21960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Shape 15"/>
          <p:cNvSpPr/>
          <p:nvPr/>
        </p:nvSpPr>
        <p:spPr>
          <a:xfrm>
            <a:off x="658440" y="2926080"/>
            <a:ext cx="3062520" cy="621000"/>
          </a:xfrm>
          <a:prstGeom prst="roundRect">
            <a:avLst>
              <a:gd name="adj" fmla="val 8824"/>
            </a:avLst>
          </a:prstGeom>
          <a:solidFill>
            <a:srgbClr val="DFF4E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16"/>
          <p:cNvSpPr/>
          <p:nvPr/>
        </p:nvSpPr>
        <p:spPr>
          <a:xfrm>
            <a:off x="786240" y="3026520"/>
            <a:ext cx="712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r>
              <a:rPr lang="ja-JP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Text 17"/>
          <p:cNvSpPr/>
          <p:nvPr/>
        </p:nvSpPr>
        <p:spPr>
          <a:xfrm>
            <a:off x="1508760" y="3017520"/>
            <a:ext cx="1755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サブコンポーネント仕様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Text 18"/>
          <p:cNvSpPr/>
          <p:nvPr/>
        </p:nvSpPr>
        <p:spPr>
          <a:xfrm>
            <a:off x="2761560" y="3255120"/>
            <a:ext cx="749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7500" lnSpcReduction="19999"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89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サブシステム設計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Shape 19"/>
          <p:cNvSpPr/>
          <p:nvPr/>
        </p:nvSpPr>
        <p:spPr>
          <a:xfrm>
            <a:off x="2189880" y="3547800"/>
            <a:ext cx="360" cy="219240"/>
          </a:xfrm>
          <a:prstGeom prst="line">
            <a:avLst/>
          </a:prstGeom>
          <a:ln w="1270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Shape 20"/>
          <p:cNvSpPr/>
          <p:nvPr/>
        </p:nvSpPr>
        <p:spPr>
          <a:xfrm>
            <a:off x="658440" y="3767400"/>
            <a:ext cx="3062520" cy="621000"/>
          </a:xfrm>
          <a:prstGeom prst="roundRect">
            <a:avLst>
              <a:gd name="adj" fmla="val 8824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Text 21"/>
          <p:cNvSpPr/>
          <p:nvPr/>
        </p:nvSpPr>
        <p:spPr>
          <a:xfrm>
            <a:off x="786240" y="3867840"/>
            <a:ext cx="7124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第</a:t>
            </a:r>
            <a:r>
              <a:rPr lang="en-US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層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Text 22"/>
          <p:cNvSpPr/>
          <p:nvPr/>
        </p:nvSpPr>
        <p:spPr>
          <a:xfrm>
            <a:off x="1508760" y="3858840"/>
            <a:ext cx="17550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リーフ </a:t>
            </a:r>
            <a:r>
              <a:rPr lang="en-US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23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プラットフォーム仕様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Text 23"/>
          <p:cNvSpPr/>
          <p:nvPr/>
        </p:nvSpPr>
        <p:spPr>
          <a:xfrm>
            <a:off x="2761560" y="4096440"/>
            <a:ext cx="7491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889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物理実装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Shape 24"/>
          <p:cNvSpPr/>
          <p:nvPr/>
        </p:nvSpPr>
        <p:spPr>
          <a:xfrm>
            <a:off x="4224600" y="1499760"/>
            <a:ext cx="2669400" cy="287064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25"/>
          <p:cNvSpPr/>
          <p:nvPr/>
        </p:nvSpPr>
        <p:spPr>
          <a:xfrm>
            <a:off x="4818960" y="1737360"/>
            <a:ext cx="1462320" cy="291960"/>
          </a:xfrm>
          <a:prstGeom prst="roundRect">
            <a:avLst>
              <a:gd name="adj" fmla="val 50000"/>
            </a:avLst>
          </a:prstGeom>
          <a:solidFill>
            <a:srgbClr val="DCF5F7"/>
          </a:solidFill>
          <a:ln w="12700">
            <a:solidFill>
              <a:srgbClr val="DCF5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 26"/>
          <p:cNvSpPr/>
          <p:nvPr/>
        </p:nvSpPr>
        <p:spPr>
          <a:xfrm>
            <a:off x="4901040" y="1787760"/>
            <a:ext cx="12978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検証証跡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Shape 27"/>
          <p:cNvSpPr/>
          <p:nvPr/>
        </p:nvSpPr>
        <p:spPr>
          <a:xfrm>
            <a:off x="4517280" y="2286000"/>
            <a:ext cx="2084040" cy="291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28"/>
          <p:cNvSpPr/>
          <p:nvPr/>
        </p:nvSpPr>
        <p:spPr>
          <a:xfrm>
            <a:off x="4599360" y="2336400"/>
            <a:ext cx="1919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形式検証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Shape 29"/>
          <p:cNvSpPr/>
          <p:nvPr/>
        </p:nvSpPr>
        <p:spPr>
          <a:xfrm>
            <a:off x="4517280" y="2633400"/>
            <a:ext cx="2084040" cy="291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Text 30"/>
          <p:cNvSpPr/>
          <p:nvPr/>
        </p:nvSpPr>
        <p:spPr>
          <a:xfrm>
            <a:off x="4599360" y="2683800"/>
            <a:ext cx="1919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概念実装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Shape 31"/>
          <p:cNvSpPr/>
          <p:nvPr/>
        </p:nvSpPr>
        <p:spPr>
          <a:xfrm>
            <a:off x="4517280" y="2980800"/>
            <a:ext cx="2084040" cy="291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32"/>
          <p:cNvSpPr/>
          <p:nvPr/>
        </p:nvSpPr>
        <p:spPr>
          <a:xfrm>
            <a:off x="4599360" y="3031200"/>
            <a:ext cx="1919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単体テスト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Shape 33"/>
          <p:cNvSpPr/>
          <p:nvPr/>
        </p:nvSpPr>
        <p:spPr>
          <a:xfrm>
            <a:off x="4517280" y="3328560"/>
            <a:ext cx="2084040" cy="291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Text 34"/>
          <p:cNvSpPr/>
          <p:nvPr/>
        </p:nvSpPr>
        <p:spPr>
          <a:xfrm>
            <a:off x="4599360" y="3378600"/>
            <a:ext cx="1919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結合テスト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Shape 35"/>
          <p:cNvSpPr/>
          <p:nvPr/>
        </p:nvSpPr>
        <p:spPr>
          <a:xfrm>
            <a:off x="4517280" y="3675960"/>
            <a:ext cx="2084040" cy="291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Text 36"/>
          <p:cNvSpPr/>
          <p:nvPr/>
        </p:nvSpPr>
        <p:spPr>
          <a:xfrm>
            <a:off x="4599360" y="3726360"/>
            <a:ext cx="191952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ベンチマーク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37"/>
          <p:cNvSpPr/>
          <p:nvPr/>
        </p:nvSpPr>
        <p:spPr>
          <a:xfrm>
            <a:off x="3986640" y="2395440"/>
            <a:ext cx="360" cy="1682640"/>
          </a:xfrm>
          <a:prstGeom prst="line">
            <a:avLst/>
          </a:prstGeom>
          <a:ln w="11430">
            <a:solidFill>
              <a:srgbClr val="A7B1B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Shape 38"/>
          <p:cNvSpPr/>
          <p:nvPr/>
        </p:nvSpPr>
        <p:spPr>
          <a:xfrm>
            <a:off x="3721320" y="2395440"/>
            <a:ext cx="265320" cy="360"/>
          </a:xfrm>
          <a:prstGeom prst="line">
            <a:avLst/>
          </a:prstGeom>
          <a:ln w="11430">
            <a:solidFill>
              <a:srgbClr val="A7B1B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Shape 39"/>
          <p:cNvSpPr/>
          <p:nvPr/>
        </p:nvSpPr>
        <p:spPr>
          <a:xfrm>
            <a:off x="3721320" y="3236760"/>
            <a:ext cx="265320" cy="360"/>
          </a:xfrm>
          <a:prstGeom prst="line">
            <a:avLst/>
          </a:prstGeom>
          <a:ln w="11430">
            <a:solidFill>
              <a:srgbClr val="A7B1B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Shape 40"/>
          <p:cNvSpPr/>
          <p:nvPr/>
        </p:nvSpPr>
        <p:spPr>
          <a:xfrm>
            <a:off x="3721320" y="4078080"/>
            <a:ext cx="265320" cy="360"/>
          </a:xfrm>
          <a:prstGeom prst="line">
            <a:avLst/>
          </a:prstGeom>
          <a:ln w="11430">
            <a:solidFill>
              <a:srgbClr val="A7B1B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41"/>
          <p:cNvSpPr/>
          <p:nvPr/>
        </p:nvSpPr>
        <p:spPr>
          <a:xfrm>
            <a:off x="3986640" y="3236760"/>
            <a:ext cx="237600" cy="360"/>
          </a:xfrm>
          <a:prstGeom prst="line">
            <a:avLst/>
          </a:prstGeom>
          <a:ln w="11430">
            <a:solidFill>
              <a:srgbClr val="A7B1BE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Shape 42"/>
          <p:cNvSpPr/>
          <p:nvPr/>
        </p:nvSpPr>
        <p:spPr>
          <a:xfrm>
            <a:off x="5559480" y="4370760"/>
            <a:ext cx="360" cy="274320"/>
          </a:xfrm>
          <a:prstGeom prst="line">
            <a:avLst/>
          </a:prstGeom>
          <a:ln w="13970">
            <a:solidFill>
              <a:srgbClr val="F57C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Shape 43"/>
          <p:cNvSpPr/>
          <p:nvPr/>
        </p:nvSpPr>
        <p:spPr>
          <a:xfrm>
            <a:off x="4297680" y="4645080"/>
            <a:ext cx="2522880" cy="639360"/>
          </a:xfrm>
          <a:prstGeom prst="roundRect">
            <a:avLst>
              <a:gd name="adj" fmla="val 10000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Text 44"/>
          <p:cNvSpPr/>
          <p:nvPr/>
        </p:nvSpPr>
        <p:spPr>
          <a:xfrm>
            <a:off x="4407480" y="4736520"/>
            <a:ext cx="2303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不具合・計測結果・新しい知見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Shape 45"/>
          <p:cNvSpPr/>
          <p:nvPr/>
        </p:nvSpPr>
        <p:spPr>
          <a:xfrm>
            <a:off x="6821280" y="4965120"/>
            <a:ext cx="51192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46"/>
          <p:cNvSpPr/>
          <p:nvPr/>
        </p:nvSpPr>
        <p:spPr>
          <a:xfrm>
            <a:off x="7333560" y="4462200"/>
            <a:ext cx="1755000" cy="100512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F57C00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Text 47"/>
          <p:cNvSpPr/>
          <p:nvPr/>
        </p:nvSpPr>
        <p:spPr>
          <a:xfrm>
            <a:off x="7525440" y="4727520"/>
            <a:ext cx="1370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8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人間が判断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8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どの仕様を直すか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Shape 48"/>
          <p:cNvSpPr/>
          <p:nvPr/>
        </p:nvSpPr>
        <p:spPr>
          <a:xfrm>
            <a:off x="6364080" y="5541120"/>
            <a:ext cx="2486520" cy="749160"/>
          </a:xfrm>
          <a:prstGeom prst="roundRect">
            <a:avLst>
              <a:gd name="adj" fmla="val 8537"/>
            </a:avLst>
          </a:prstGeom>
          <a:solidFill>
            <a:srgbClr val="F6FCF8"/>
          </a:solidFill>
          <a:ln w="12700">
            <a:solidFill>
              <a:srgbClr val="20A66A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 49"/>
          <p:cNvSpPr/>
          <p:nvPr/>
        </p:nvSpPr>
        <p:spPr>
          <a:xfrm>
            <a:off x="6528960" y="5669280"/>
            <a:ext cx="21571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8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下位成果物の誤り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 50"/>
          <p:cNvSpPr/>
          <p:nvPr/>
        </p:nvSpPr>
        <p:spPr>
          <a:xfrm>
            <a:off x="6528960" y="5952600"/>
            <a:ext cx="21571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下位仕様・実装・テストを修正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51"/>
          <p:cNvSpPr/>
          <p:nvPr/>
        </p:nvSpPr>
        <p:spPr>
          <a:xfrm>
            <a:off x="9070920" y="5541120"/>
            <a:ext cx="2468160" cy="749160"/>
          </a:xfrm>
          <a:prstGeom prst="roundRect">
            <a:avLst>
              <a:gd name="adj" fmla="val 8537"/>
            </a:avLst>
          </a:prstGeom>
          <a:solidFill>
            <a:srgbClr val="DCE8FF"/>
          </a:solidFill>
          <a:ln w="12700">
            <a:solidFill>
              <a:srgbClr val="2B6FFF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52"/>
          <p:cNvSpPr/>
          <p:nvPr/>
        </p:nvSpPr>
        <p:spPr>
          <a:xfrm>
            <a:off x="9235440" y="5650920"/>
            <a:ext cx="21391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4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要求・設計判断を変更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53"/>
          <p:cNvSpPr/>
          <p:nvPr/>
        </p:nvSpPr>
        <p:spPr>
          <a:xfrm>
            <a:off x="9235440" y="5952600"/>
            <a:ext cx="21391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96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上位正本を更新 → 下位へ再伝播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Shape 55"/>
          <p:cNvSpPr/>
          <p:nvPr/>
        </p:nvSpPr>
        <p:spPr>
          <a:xfrm flipH="1">
            <a:off x="7607520" y="5358240"/>
            <a:ext cx="312480" cy="182880"/>
          </a:xfrm>
          <a:prstGeom prst="line">
            <a:avLst/>
          </a:prstGeom>
          <a:ln w="12700">
            <a:solidFill>
              <a:srgbClr val="20A66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Shape 56"/>
          <p:cNvSpPr/>
          <p:nvPr/>
        </p:nvSpPr>
        <p:spPr>
          <a:xfrm>
            <a:off x="8460000" y="5358240"/>
            <a:ext cx="1845000" cy="182880"/>
          </a:xfrm>
          <a:prstGeom prst="line">
            <a:avLst/>
          </a:prstGeom>
          <a:ln w="12700">
            <a:solidFill>
              <a:srgbClr val="2B6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Text 57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Text 58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28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2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SDD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への</a:t>
            </a: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つの疑念と検証結果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導入前の懸念を、実際の開発で検証した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FFF0DF"/>
          </a:solidFill>
          <a:ln w="12700">
            <a:solidFill>
              <a:srgbClr val="FFF0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プロセス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Shape 5"/>
          <p:cNvSpPr/>
          <p:nvPr/>
        </p:nvSpPr>
        <p:spPr>
          <a:xfrm>
            <a:off x="658440" y="1389960"/>
            <a:ext cx="5229720" cy="195624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Shape 6"/>
          <p:cNvSpPr/>
          <p:nvPr/>
        </p:nvSpPr>
        <p:spPr>
          <a:xfrm>
            <a:off x="877680" y="1591200"/>
            <a:ext cx="383400" cy="3834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7"/>
          <p:cNvSpPr/>
          <p:nvPr/>
        </p:nvSpPr>
        <p:spPr>
          <a:xfrm>
            <a:off x="877680" y="1719000"/>
            <a:ext cx="3834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Text 8"/>
          <p:cNvSpPr/>
          <p:nvPr/>
        </p:nvSpPr>
        <p:spPr>
          <a:xfrm>
            <a:off x="1408320" y="1591200"/>
            <a:ext cx="4168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実装が遅くならないか？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 9"/>
          <p:cNvSpPr/>
          <p:nvPr/>
        </p:nvSpPr>
        <p:spPr>
          <a:xfrm>
            <a:off x="914400" y="2176200"/>
            <a:ext cx="46443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初期の仕様作成コストは増える。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ただし、</a:t>
            </a:r>
            <a:r>
              <a:rPr lang="en-US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補間や設計破綻を防ぐ効果がある。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10"/>
          <p:cNvSpPr/>
          <p:nvPr/>
        </p:nvSpPr>
        <p:spPr>
          <a:xfrm>
            <a:off x="6163200" y="1389960"/>
            <a:ext cx="5229720" cy="195624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Shape 11"/>
          <p:cNvSpPr/>
          <p:nvPr/>
        </p:nvSpPr>
        <p:spPr>
          <a:xfrm>
            <a:off x="6382440" y="1591200"/>
            <a:ext cx="383400" cy="38340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3" name="Text 12"/>
          <p:cNvSpPr/>
          <p:nvPr/>
        </p:nvSpPr>
        <p:spPr>
          <a:xfrm>
            <a:off x="6382440" y="1719000"/>
            <a:ext cx="3834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Text 13"/>
          <p:cNvSpPr/>
          <p:nvPr/>
        </p:nvSpPr>
        <p:spPr>
          <a:xfrm>
            <a:off x="6912720" y="1591200"/>
            <a:ext cx="4168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誤った仕様を固めないか？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 14"/>
          <p:cNvSpPr/>
          <p:nvPr/>
        </p:nvSpPr>
        <p:spPr>
          <a:xfrm>
            <a:off x="6419160" y="2176200"/>
            <a:ext cx="46443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実行結果から得た知見を仕様へ戻し、仕様自体を更新する。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Shape 15"/>
          <p:cNvSpPr/>
          <p:nvPr/>
        </p:nvSpPr>
        <p:spPr>
          <a:xfrm>
            <a:off x="658440" y="3657600"/>
            <a:ext cx="5229720" cy="195624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Shape 16"/>
          <p:cNvSpPr/>
          <p:nvPr/>
        </p:nvSpPr>
        <p:spPr>
          <a:xfrm>
            <a:off x="877680" y="3858840"/>
            <a:ext cx="383400" cy="3834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17"/>
          <p:cNvSpPr/>
          <p:nvPr/>
        </p:nvSpPr>
        <p:spPr>
          <a:xfrm>
            <a:off x="877680" y="3986640"/>
            <a:ext cx="3834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 18"/>
          <p:cNvSpPr/>
          <p:nvPr/>
        </p:nvSpPr>
        <p:spPr>
          <a:xfrm>
            <a:off x="1408320" y="3858840"/>
            <a:ext cx="4168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変更コストが増えないか？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Text 19"/>
          <p:cNvSpPr/>
          <p:nvPr/>
        </p:nvSpPr>
        <p:spPr>
          <a:xfrm>
            <a:off x="914400" y="4443840"/>
            <a:ext cx="46443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依存関係を整理し、変更影響を必要な範囲へ絞る。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Shape 20"/>
          <p:cNvSpPr/>
          <p:nvPr/>
        </p:nvSpPr>
        <p:spPr>
          <a:xfrm>
            <a:off x="6163200" y="3657600"/>
            <a:ext cx="5229720" cy="1956240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Shape 21"/>
          <p:cNvSpPr/>
          <p:nvPr/>
        </p:nvSpPr>
        <p:spPr>
          <a:xfrm>
            <a:off x="6382440" y="3858840"/>
            <a:ext cx="383400" cy="383400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3" name="Text 22"/>
          <p:cNvSpPr/>
          <p:nvPr/>
        </p:nvSpPr>
        <p:spPr>
          <a:xfrm>
            <a:off x="6382440" y="3986640"/>
            <a:ext cx="3834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Text 23"/>
          <p:cNvSpPr/>
          <p:nvPr/>
        </p:nvSpPr>
        <p:spPr>
          <a:xfrm>
            <a:off x="6912720" y="3858840"/>
            <a:ext cx="41688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動かさないと分からない問題は？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Text 24"/>
          <p:cNvSpPr/>
          <p:nvPr/>
        </p:nvSpPr>
        <p:spPr>
          <a:xfrm>
            <a:off x="6419160" y="4443840"/>
            <a:ext cx="464436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シミュレータ </a:t>
            </a:r>
            <a:r>
              <a:rPr lang="en-US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/ </a:t>
            </a: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実機確認と仕様化を素早く往復する。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 25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Text 26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29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C1B2A"/>
          </a:solidFill>
          <a:ln w="12700">
            <a:solidFill>
              <a:srgbClr val="0C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9" name="Shape 1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2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SDD</a:t>
            </a:r>
            <a:r>
              <a:rPr lang="ja-JP" sz="22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を成功させる</a:t>
            </a:r>
            <a:r>
              <a:rPr lang="en-US" sz="22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r>
              <a:rPr lang="ja-JP" sz="22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つの開発方針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1" name="Text 3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r>
              <a:rPr lang="ja-JP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で残った実践ルール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2" name="Shape 4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24384B"/>
          </a:solidFill>
          <a:ln w="12700">
            <a:solidFill>
              <a:srgbClr val="243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3" name="Text 5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学び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4" name="Shape 6"/>
          <p:cNvSpPr/>
          <p:nvPr/>
        </p:nvSpPr>
        <p:spPr>
          <a:xfrm>
            <a:off x="713160" y="1417320"/>
            <a:ext cx="5229720" cy="1882800"/>
          </a:xfrm>
          <a:prstGeom prst="roundRect">
            <a:avLst>
              <a:gd name="adj" fmla="val 4369"/>
            </a:avLst>
          </a:prstGeom>
          <a:solidFill>
            <a:srgbClr val="14283A"/>
          </a:solidFill>
          <a:ln w="12700">
            <a:solidFill>
              <a:srgbClr val="203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 7"/>
          <p:cNvSpPr/>
          <p:nvPr/>
        </p:nvSpPr>
        <p:spPr>
          <a:xfrm>
            <a:off x="951120" y="163692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B6FFF"/>
                </a:solidFill>
                <a:effectLst/>
                <a:uFillTx/>
                <a:latin typeface="Noto Sans CJK JP"/>
                <a:ea typeface="Noto Sans CJK JP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 8"/>
          <p:cNvSpPr/>
          <p:nvPr/>
        </p:nvSpPr>
        <p:spPr>
          <a:xfrm>
            <a:off x="1645920" y="1636920"/>
            <a:ext cx="3885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内側の層を安定させる</a:t>
            </a:r>
            <a:endParaRPr lang="en-US" sz="1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7" name="Text 9"/>
          <p:cNvSpPr/>
          <p:nvPr/>
        </p:nvSpPr>
        <p:spPr>
          <a:xfrm>
            <a:off x="969120" y="2350080"/>
            <a:ext cx="4644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B3C1CC"/>
                </a:solidFill>
                <a:effectLst/>
                <a:uFillTx/>
                <a:latin typeface="Noto Sans CJK JP"/>
                <a:ea typeface="Noto Sans CJK JP"/>
              </a:rPr>
              <a:t>OS</a:t>
            </a:r>
            <a:r>
              <a:rPr lang="ja-JP" sz="1230" b="0" u="none" strike="noStrike">
                <a:solidFill>
                  <a:srgbClr val="B3C1CC"/>
                </a:solidFill>
                <a:effectLst/>
                <a:uFillTx/>
                <a:latin typeface="Noto Sans CJK JP"/>
                <a:ea typeface="Noto Sans CJK JP"/>
              </a:rPr>
              <a:t>・</a:t>
            </a:r>
            <a:r>
              <a:rPr lang="en-US" sz="1230" b="0" u="none" strike="noStrike">
                <a:solidFill>
                  <a:srgbClr val="B3C1CC"/>
                </a:solidFill>
                <a:effectLst/>
                <a:uFillTx/>
                <a:latin typeface="Noto Sans CJK JP"/>
                <a:ea typeface="Noto Sans CJK JP"/>
              </a:rPr>
              <a:t>IPC</a:t>
            </a:r>
            <a:r>
              <a:rPr lang="ja-JP" sz="1230" b="0" u="none" strike="noStrike">
                <a:solidFill>
                  <a:srgbClr val="B3C1CC"/>
                </a:solidFill>
                <a:effectLst/>
                <a:uFillTx/>
                <a:latin typeface="Noto Sans CJK JP"/>
                <a:ea typeface="Noto Sans CJK JP"/>
              </a:rPr>
              <a:t>・メモリ管理から外側の実装依存を排除</a:t>
            </a:r>
            <a:endParaRPr lang="en-US" sz="1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8" name="Shape 10"/>
          <p:cNvSpPr/>
          <p:nvPr/>
        </p:nvSpPr>
        <p:spPr>
          <a:xfrm>
            <a:off x="6245280" y="1417320"/>
            <a:ext cx="5229720" cy="1882800"/>
          </a:xfrm>
          <a:prstGeom prst="roundRect">
            <a:avLst>
              <a:gd name="adj" fmla="val 4369"/>
            </a:avLst>
          </a:prstGeom>
          <a:solidFill>
            <a:srgbClr val="14283A"/>
          </a:solidFill>
          <a:ln w="12700">
            <a:solidFill>
              <a:srgbClr val="203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 11"/>
          <p:cNvSpPr/>
          <p:nvPr/>
        </p:nvSpPr>
        <p:spPr>
          <a:xfrm>
            <a:off x="6483240" y="163692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0A7B5"/>
                </a:solidFill>
                <a:effectLst/>
                <a:uFillTx/>
                <a:latin typeface="Noto Sans CJK JP"/>
                <a:ea typeface="Noto Sans CJK JP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0" name="Text 12"/>
          <p:cNvSpPr/>
          <p:nvPr/>
        </p:nvSpPr>
        <p:spPr>
          <a:xfrm>
            <a:off x="7178040" y="1636920"/>
            <a:ext cx="3885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レビュー観点を事前定義する</a:t>
            </a:r>
            <a:endParaRPr lang="en-US" sz="1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1" name="Text 13"/>
          <p:cNvSpPr/>
          <p:nvPr/>
        </p:nvSpPr>
        <p:spPr>
          <a:xfrm>
            <a:off x="6501240" y="2350080"/>
            <a:ext cx="4644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0" u="none" strike="noStrike">
                <a:solidFill>
                  <a:srgbClr val="B3C1CC"/>
                </a:solidFill>
                <a:effectLst/>
                <a:uFillTx/>
                <a:latin typeface="Noto Sans CJK JP"/>
                <a:ea typeface="Noto Sans CJK JP"/>
              </a:rPr>
              <a:t>何をもって正しいとするかを先に固定</a:t>
            </a:r>
            <a:endParaRPr lang="en-US" sz="1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2" name="Shape 14"/>
          <p:cNvSpPr/>
          <p:nvPr/>
        </p:nvSpPr>
        <p:spPr>
          <a:xfrm>
            <a:off x="713160" y="3639240"/>
            <a:ext cx="5229720" cy="1882800"/>
          </a:xfrm>
          <a:prstGeom prst="roundRect">
            <a:avLst>
              <a:gd name="adj" fmla="val 4369"/>
            </a:avLst>
          </a:prstGeom>
          <a:solidFill>
            <a:srgbClr val="14283A"/>
          </a:solidFill>
          <a:ln w="12700">
            <a:solidFill>
              <a:srgbClr val="203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3" name="Text 15"/>
          <p:cNvSpPr/>
          <p:nvPr/>
        </p:nvSpPr>
        <p:spPr>
          <a:xfrm>
            <a:off x="951120" y="385884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 16"/>
          <p:cNvSpPr/>
          <p:nvPr/>
        </p:nvSpPr>
        <p:spPr>
          <a:xfrm>
            <a:off x="1645920" y="3858840"/>
            <a:ext cx="3885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依存関係に沿って追跡する</a:t>
            </a:r>
            <a:endParaRPr lang="en-US" sz="1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5" name="Text 17"/>
          <p:cNvSpPr/>
          <p:nvPr/>
        </p:nvSpPr>
        <p:spPr>
          <a:xfrm>
            <a:off x="969120" y="4572000"/>
            <a:ext cx="4644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0" u="none" strike="noStrike">
                <a:solidFill>
                  <a:srgbClr val="B3C1CC"/>
                </a:solidFill>
                <a:effectLst/>
                <a:uFillTx/>
                <a:latin typeface="Noto Sans CJK JP"/>
                <a:ea typeface="Noto Sans CJK JP"/>
              </a:rPr>
              <a:t>要求・仕様・設計・実装・テストを同じ方向で紐付け</a:t>
            </a:r>
            <a:endParaRPr lang="en-US" sz="1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6" name="Shape 18"/>
          <p:cNvSpPr/>
          <p:nvPr/>
        </p:nvSpPr>
        <p:spPr>
          <a:xfrm>
            <a:off x="6245280" y="3639240"/>
            <a:ext cx="5229720" cy="1882800"/>
          </a:xfrm>
          <a:prstGeom prst="roundRect">
            <a:avLst>
              <a:gd name="adj" fmla="val 4369"/>
            </a:avLst>
          </a:prstGeom>
          <a:solidFill>
            <a:srgbClr val="14283A"/>
          </a:solidFill>
          <a:ln w="12700">
            <a:solidFill>
              <a:srgbClr val="203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7" name="Text 19"/>
          <p:cNvSpPr/>
          <p:nvPr/>
        </p:nvSpPr>
        <p:spPr>
          <a:xfrm>
            <a:off x="6483240" y="3858840"/>
            <a:ext cx="730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8" name="Text 20"/>
          <p:cNvSpPr/>
          <p:nvPr/>
        </p:nvSpPr>
        <p:spPr>
          <a:xfrm>
            <a:off x="7178040" y="3858840"/>
            <a:ext cx="38854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自動チェックと人間判断を組み合わせる</a:t>
            </a:r>
            <a:endParaRPr lang="en-US" sz="17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9" name="Text 21"/>
          <p:cNvSpPr/>
          <p:nvPr/>
        </p:nvSpPr>
        <p:spPr>
          <a:xfrm>
            <a:off x="6501240" y="4572000"/>
            <a:ext cx="464436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30" b="0" u="none" strike="noStrike">
                <a:solidFill>
                  <a:srgbClr val="B3C1CC"/>
                </a:solidFill>
                <a:effectLst/>
                <a:uFillTx/>
                <a:latin typeface="Noto Sans CJK JP"/>
                <a:ea typeface="Noto Sans CJK JP"/>
              </a:rPr>
              <a:t>自動化は漏れを減らし、人間は意味と責任を担う</a:t>
            </a:r>
            <a:endParaRPr lang="en-US" sz="1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0" name="Text 22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396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 23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18396"/>
                </a:solidFill>
                <a:effectLst/>
                <a:uFillTx/>
                <a:latin typeface="Noto Sans CJK JP"/>
                <a:ea typeface="Noto Sans CJK JP"/>
              </a:rPr>
              <a:t>30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3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プロセス循環モデル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設計ルール → レビュー → 検査 → 人間判断 → フィードバック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FFF0DF"/>
          </a:solidFill>
          <a:ln w="12700">
            <a:solidFill>
              <a:srgbClr val="FFF0D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6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57C00"/>
                </a:solidFill>
                <a:effectLst/>
                <a:uFillTx/>
                <a:latin typeface="Noto Sans CJK JP"/>
                <a:ea typeface="Noto Sans CJK JP"/>
              </a:rPr>
              <a:t>プロセス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Shape 5"/>
          <p:cNvSpPr/>
          <p:nvPr/>
        </p:nvSpPr>
        <p:spPr>
          <a:xfrm>
            <a:off x="868680" y="1481400"/>
            <a:ext cx="3272760" cy="1352520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Shape 6"/>
          <p:cNvSpPr/>
          <p:nvPr/>
        </p:nvSpPr>
        <p:spPr>
          <a:xfrm>
            <a:off x="1069920" y="1682640"/>
            <a:ext cx="401760" cy="40176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 7"/>
          <p:cNvSpPr/>
          <p:nvPr/>
        </p:nvSpPr>
        <p:spPr>
          <a:xfrm>
            <a:off x="1069920" y="1819800"/>
            <a:ext cx="4017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Text 8"/>
          <p:cNvSpPr/>
          <p:nvPr/>
        </p:nvSpPr>
        <p:spPr>
          <a:xfrm>
            <a:off x="1618560" y="1664280"/>
            <a:ext cx="214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依存方向定義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Text 9"/>
          <p:cNvSpPr/>
          <p:nvPr/>
        </p:nvSpPr>
        <p:spPr>
          <a:xfrm>
            <a:off x="1088280" y="2194560"/>
            <a:ext cx="2815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文書とコードの依存方向を決める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2" name="Shape 10"/>
          <p:cNvSpPr/>
          <p:nvPr/>
        </p:nvSpPr>
        <p:spPr>
          <a:xfrm>
            <a:off x="4142160" y="2157840"/>
            <a:ext cx="47556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11"/>
          <p:cNvSpPr/>
          <p:nvPr/>
        </p:nvSpPr>
        <p:spPr>
          <a:xfrm>
            <a:off x="4617720" y="1481400"/>
            <a:ext cx="3272760" cy="1352520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Shape 12"/>
          <p:cNvSpPr/>
          <p:nvPr/>
        </p:nvSpPr>
        <p:spPr>
          <a:xfrm>
            <a:off x="4818960" y="1682640"/>
            <a:ext cx="401760" cy="40176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5" name="Text 13"/>
          <p:cNvSpPr/>
          <p:nvPr/>
        </p:nvSpPr>
        <p:spPr>
          <a:xfrm>
            <a:off x="4818960" y="1819800"/>
            <a:ext cx="4017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 14"/>
          <p:cNvSpPr/>
          <p:nvPr/>
        </p:nvSpPr>
        <p:spPr>
          <a:xfrm>
            <a:off x="5367600" y="1664280"/>
            <a:ext cx="214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観点定義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Text 15"/>
          <p:cNvSpPr/>
          <p:nvPr/>
        </p:nvSpPr>
        <p:spPr>
          <a:xfrm>
            <a:off x="4837320" y="2194560"/>
            <a:ext cx="2815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何をもって正しいとするか固定する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Shape 16"/>
          <p:cNvSpPr/>
          <p:nvPr/>
        </p:nvSpPr>
        <p:spPr>
          <a:xfrm>
            <a:off x="7891200" y="2157840"/>
            <a:ext cx="47556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Shape 17"/>
          <p:cNvSpPr/>
          <p:nvPr/>
        </p:nvSpPr>
        <p:spPr>
          <a:xfrm>
            <a:off x="8366760" y="1481400"/>
            <a:ext cx="3272760" cy="1352520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Shape 18"/>
          <p:cNvSpPr/>
          <p:nvPr/>
        </p:nvSpPr>
        <p:spPr>
          <a:xfrm>
            <a:off x="8568000" y="1682640"/>
            <a:ext cx="401760" cy="401760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1" name="Text 19"/>
          <p:cNvSpPr/>
          <p:nvPr/>
        </p:nvSpPr>
        <p:spPr>
          <a:xfrm>
            <a:off x="8568000" y="1819800"/>
            <a:ext cx="4017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 20"/>
          <p:cNvSpPr/>
          <p:nvPr/>
        </p:nvSpPr>
        <p:spPr>
          <a:xfrm>
            <a:off x="9116640" y="1664280"/>
            <a:ext cx="214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2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専門レビュー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Text 21"/>
          <p:cNvSpPr/>
          <p:nvPr/>
        </p:nvSpPr>
        <p:spPr>
          <a:xfrm>
            <a:off x="8586360" y="2194560"/>
            <a:ext cx="2815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対象に応じた観点で成果物を比較する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Shape 22"/>
          <p:cNvSpPr/>
          <p:nvPr/>
        </p:nvSpPr>
        <p:spPr>
          <a:xfrm>
            <a:off x="868680" y="3931920"/>
            <a:ext cx="3272760" cy="1352520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Shape 23"/>
          <p:cNvSpPr/>
          <p:nvPr/>
        </p:nvSpPr>
        <p:spPr>
          <a:xfrm>
            <a:off x="1069920" y="4133160"/>
            <a:ext cx="401760" cy="40176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Text 24"/>
          <p:cNvSpPr/>
          <p:nvPr/>
        </p:nvSpPr>
        <p:spPr>
          <a:xfrm>
            <a:off x="1069920" y="4270320"/>
            <a:ext cx="4017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6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Text 25"/>
          <p:cNvSpPr/>
          <p:nvPr/>
        </p:nvSpPr>
        <p:spPr>
          <a:xfrm>
            <a:off x="1618560" y="4114800"/>
            <a:ext cx="214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フィードバック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Text 26"/>
          <p:cNvSpPr/>
          <p:nvPr/>
        </p:nvSpPr>
        <p:spPr>
          <a:xfrm>
            <a:off x="1088280" y="4645080"/>
            <a:ext cx="2815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実行・計測の知見を正本へ戻す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Shape 27"/>
          <p:cNvSpPr/>
          <p:nvPr/>
        </p:nvSpPr>
        <p:spPr>
          <a:xfrm>
            <a:off x="4617720" y="3931920"/>
            <a:ext cx="3272760" cy="1352520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Shape 28"/>
          <p:cNvSpPr/>
          <p:nvPr/>
        </p:nvSpPr>
        <p:spPr>
          <a:xfrm>
            <a:off x="4818960" y="4133160"/>
            <a:ext cx="401760" cy="401760"/>
          </a:xfrm>
          <a:prstGeom prst="ellipse">
            <a:avLst/>
          </a:prstGeom>
          <a:solidFill>
            <a:srgbClr val="7B61C9"/>
          </a:solidFill>
          <a:ln w="12700">
            <a:solidFill>
              <a:srgbClr val="7B61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 29"/>
          <p:cNvSpPr/>
          <p:nvPr/>
        </p:nvSpPr>
        <p:spPr>
          <a:xfrm>
            <a:off x="4818960" y="4270320"/>
            <a:ext cx="4017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5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Text 30"/>
          <p:cNvSpPr/>
          <p:nvPr/>
        </p:nvSpPr>
        <p:spPr>
          <a:xfrm>
            <a:off x="5367600" y="4114800"/>
            <a:ext cx="214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人間による読み比べ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Text 31"/>
          <p:cNvSpPr/>
          <p:nvPr/>
        </p:nvSpPr>
        <p:spPr>
          <a:xfrm>
            <a:off x="4837320" y="4645080"/>
            <a:ext cx="2815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意味・設計意図・例外を判断する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Shape 32"/>
          <p:cNvSpPr/>
          <p:nvPr/>
        </p:nvSpPr>
        <p:spPr>
          <a:xfrm>
            <a:off x="8366760" y="3931920"/>
            <a:ext cx="3272760" cy="1352520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Shape 33"/>
          <p:cNvSpPr/>
          <p:nvPr/>
        </p:nvSpPr>
        <p:spPr>
          <a:xfrm>
            <a:off x="8568000" y="4133160"/>
            <a:ext cx="401760" cy="40176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6" name="Text 34"/>
          <p:cNvSpPr/>
          <p:nvPr/>
        </p:nvSpPr>
        <p:spPr>
          <a:xfrm>
            <a:off x="8568000" y="4270320"/>
            <a:ext cx="4017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7" name="Text 35"/>
          <p:cNvSpPr/>
          <p:nvPr/>
        </p:nvSpPr>
        <p:spPr>
          <a:xfrm>
            <a:off x="9116640" y="4114800"/>
            <a:ext cx="2148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機械チェック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 36"/>
          <p:cNvSpPr/>
          <p:nvPr/>
        </p:nvSpPr>
        <p:spPr>
          <a:xfrm>
            <a:off x="8586360" y="4645080"/>
            <a:ext cx="2815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13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リンク・構文・依存・証跡を検査する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Shape 37"/>
          <p:cNvSpPr/>
          <p:nvPr/>
        </p:nvSpPr>
        <p:spPr>
          <a:xfrm>
            <a:off x="10707480" y="2834640"/>
            <a:ext cx="360" cy="109728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0" name="Shape 38"/>
          <p:cNvSpPr/>
          <p:nvPr/>
        </p:nvSpPr>
        <p:spPr>
          <a:xfrm flipH="1">
            <a:off x="7891200" y="4608360"/>
            <a:ext cx="47556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Shape 39"/>
          <p:cNvSpPr/>
          <p:nvPr/>
        </p:nvSpPr>
        <p:spPr>
          <a:xfrm flipH="1">
            <a:off x="4142160" y="4608360"/>
            <a:ext cx="475560" cy="360"/>
          </a:xfrm>
          <a:prstGeom prst="line">
            <a:avLst/>
          </a:prstGeom>
          <a:ln w="13970">
            <a:solidFill>
              <a:srgbClr val="A7B1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Shape 40"/>
          <p:cNvSpPr/>
          <p:nvPr/>
        </p:nvSpPr>
        <p:spPr>
          <a:xfrm flipH="1">
            <a:off x="502920" y="4608360"/>
            <a:ext cx="365760" cy="360"/>
          </a:xfrm>
          <a:prstGeom prst="line">
            <a:avLst/>
          </a:prstGeom>
          <a:ln w="12700">
            <a:solidFill>
              <a:srgbClr val="A7B1B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3" name="Shape 41"/>
          <p:cNvSpPr/>
          <p:nvPr/>
        </p:nvSpPr>
        <p:spPr>
          <a:xfrm flipV="1">
            <a:off x="502920" y="2157840"/>
            <a:ext cx="360" cy="2450520"/>
          </a:xfrm>
          <a:prstGeom prst="line">
            <a:avLst/>
          </a:prstGeom>
          <a:ln w="12700">
            <a:solidFill>
              <a:srgbClr val="A7B1B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Shape 42"/>
          <p:cNvSpPr/>
          <p:nvPr/>
        </p:nvSpPr>
        <p:spPr>
          <a:xfrm>
            <a:off x="502920" y="2157840"/>
            <a:ext cx="365760" cy="360"/>
          </a:xfrm>
          <a:prstGeom prst="line">
            <a:avLst/>
          </a:prstGeom>
          <a:ln w="12700">
            <a:solidFill>
              <a:srgbClr val="A7B1BE"/>
            </a:solidFill>
            <a:prstDash val="dash"/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5" name="Shape 43"/>
          <p:cNvSpPr/>
          <p:nvPr/>
        </p:nvSpPr>
        <p:spPr>
          <a:xfrm>
            <a:off x="1517760" y="5870520"/>
            <a:ext cx="9143280" cy="511200"/>
          </a:xfrm>
          <a:prstGeom prst="roundRect">
            <a:avLst>
              <a:gd name="adj" fmla="val 12500"/>
            </a:avLst>
          </a:prstGeom>
          <a:solidFill>
            <a:srgbClr val="FFF0DF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6" name="Text 44"/>
          <p:cNvSpPr/>
          <p:nvPr/>
        </p:nvSpPr>
        <p:spPr>
          <a:xfrm>
            <a:off x="1700640" y="5998320"/>
            <a:ext cx="8777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4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個別の指示ではなく、同じ流れを繰り返せるプロセスとして固定する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Text 45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8" name="Text 46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31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0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やってみた感想 </a:t>
            </a: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1/2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1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設計と実装の進め方について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FF4E8"/>
          </a:solidFill>
          <a:ln w="12700">
            <a:solidFill>
              <a:srgbClr val="DFF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学び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Shape 5"/>
          <p:cNvSpPr/>
          <p:nvPr/>
        </p:nvSpPr>
        <p:spPr>
          <a:xfrm>
            <a:off x="658440" y="1572840"/>
            <a:ext cx="3400920" cy="418716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Shape 6"/>
          <p:cNvSpPr/>
          <p:nvPr/>
        </p:nvSpPr>
        <p:spPr>
          <a:xfrm>
            <a:off x="951120" y="1847160"/>
            <a:ext cx="511200" cy="51120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6" name="Text 7"/>
          <p:cNvSpPr/>
          <p:nvPr/>
        </p:nvSpPr>
        <p:spPr>
          <a:xfrm>
            <a:off x="951120" y="2020680"/>
            <a:ext cx="51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 8"/>
          <p:cNvSpPr/>
          <p:nvPr/>
        </p:nvSpPr>
        <p:spPr>
          <a:xfrm>
            <a:off x="932760" y="2724840"/>
            <a:ext cx="2852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8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仕様とコードは対で考える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 9"/>
          <p:cNvSpPr/>
          <p:nvPr/>
        </p:nvSpPr>
        <p:spPr>
          <a:xfrm>
            <a:off x="969120" y="3794760"/>
            <a:ext cx="27792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仕様とコードが連動していなければ、意図を保った開発は成立しない。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Shape 10"/>
          <p:cNvSpPr/>
          <p:nvPr/>
        </p:nvSpPr>
        <p:spPr>
          <a:xfrm>
            <a:off x="4352400" y="1572840"/>
            <a:ext cx="3400920" cy="418716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Shape 11"/>
          <p:cNvSpPr/>
          <p:nvPr/>
        </p:nvSpPr>
        <p:spPr>
          <a:xfrm>
            <a:off x="4645080" y="1847160"/>
            <a:ext cx="511200" cy="5112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1" name="Text 12"/>
          <p:cNvSpPr/>
          <p:nvPr/>
        </p:nvSpPr>
        <p:spPr>
          <a:xfrm>
            <a:off x="4645080" y="2020680"/>
            <a:ext cx="51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2" name="Text 13"/>
          <p:cNvSpPr/>
          <p:nvPr/>
        </p:nvSpPr>
        <p:spPr>
          <a:xfrm>
            <a:off x="4626720" y="2724840"/>
            <a:ext cx="2852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8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先にコードベースがあると進めやすい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Text 14"/>
          <p:cNvSpPr/>
          <p:nvPr/>
        </p:nvSpPr>
        <p:spPr>
          <a:xfrm>
            <a:off x="4663440" y="3794760"/>
            <a:ext cx="27792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動く実装や既存制約を手掛かりに仕様を整理できる。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4" name="Shape 15"/>
          <p:cNvSpPr/>
          <p:nvPr/>
        </p:nvSpPr>
        <p:spPr>
          <a:xfrm>
            <a:off x="8046720" y="1572840"/>
            <a:ext cx="3400920" cy="418716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5" name="Shape 16"/>
          <p:cNvSpPr/>
          <p:nvPr/>
        </p:nvSpPr>
        <p:spPr>
          <a:xfrm>
            <a:off x="8339400" y="1847160"/>
            <a:ext cx="511200" cy="5112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 17"/>
          <p:cNvSpPr/>
          <p:nvPr/>
        </p:nvSpPr>
        <p:spPr>
          <a:xfrm>
            <a:off x="8339400" y="2020680"/>
            <a:ext cx="51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Text 18"/>
          <p:cNvSpPr/>
          <p:nvPr/>
        </p:nvSpPr>
        <p:spPr>
          <a:xfrm>
            <a:off x="8321040" y="2724840"/>
            <a:ext cx="28522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8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小さく作り、スパイラルで育てる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Text 19"/>
          <p:cNvSpPr/>
          <p:nvPr/>
        </p:nvSpPr>
        <p:spPr>
          <a:xfrm>
            <a:off x="8357760" y="3794760"/>
            <a:ext cx="27792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32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最初に全てを決め切らず、短い循環を重ねる。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 20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Text 21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32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2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やってみた感想 </a:t>
            </a:r>
            <a:r>
              <a:rPr lang="en-US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2/2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3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の使い方について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FF4E8"/>
          </a:solidFill>
          <a:ln w="12700">
            <a:solidFill>
              <a:srgbClr val="DFF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学び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Shape 5"/>
          <p:cNvSpPr/>
          <p:nvPr/>
        </p:nvSpPr>
        <p:spPr>
          <a:xfrm>
            <a:off x="658440" y="1572840"/>
            <a:ext cx="3400920" cy="418716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Shape 6"/>
          <p:cNvSpPr/>
          <p:nvPr/>
        </p:nvSpPr>
        <p:spPr>
          <a:xfrm>
            <a:off x="951120" y="1847160"/>
            <a:ext cx="511200" cy="51120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8" name="Text 7"/>
          <p:cNvSpPr/>
          <p:nvPr/>
        </p:nvSpPr>
        <p:spPr>
          <a:xfrm>
            <a:off x="951120" y="2020680"/>
            <a:ext cx="51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Text 8"/>
          <p:cNvSpPr/>
          <p:nvPr/>
        </p:nvSpPr>
        <p:spPr>
          <a:xfrm>
            <a:off x="932760" y="2670120"/>
            <a:ext cx="28522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29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テストはソフトウェア工学に従う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Text 9"/>
          <p:cNvSpPr/>
          <p:nvPr/>
        </p:nvSpPr>
        <p:spPr>
          <a:xfrm>
            <a:off x="969120" y="3703320"/>
            <a:ext cx="2779200" cy="13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同値分割・境界値・状態遷移・</a:t>
            </a:r>
            <a:r>
              <a:rPr lang="en-US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Pairwise</a:t>
            </a: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で網羅基準を先に定める。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は展開コストを下げる。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Shape 10"/>
          <p:cNvSpPr/>
          <p:nvPr/>
        </p:nvSpPr>
        <p:spPr>
          <a:xfrm>
            <a:off x="4352400" y="1572840"/>
            <a:ext cx="3400920" cy="418716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Shape 11"/>
          <p:cNvSpPr/>
          <p:nvPr/>
        </p:nvSpPr>
        <p:spPr>
          <a:xfrm>
            <a:off x="4645080" y="1847160"/>
            <a:ext cx="511200" cy="51120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3" name="Text 12"/>
          <p:cNvSpPr/>
          <p:nvPr/>
        </p:nvSpPr>
        <p:spPr>
          <a:xfrm>
            <a:off x="4645080" y="2020680"/>
            <a:ext cx="51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Text 13"/>
          <p:cNvSpPr/>
          <p:nvPr/>
        </p:nvSpPr>
        <p:spPr>
          <a:xfrm>
            <a:off x="4626720" y="2670120"/>
            <a:ext cx="28522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729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向け検査ツールは人間にも必要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Text 14"/>
          <p:cNvSpPr/>
          <p:nvPr/>
        </p:nvSpPr>
        <p:spPr>
          <a:xfrm>
            <a:off x="4663440" y="3703320"/>
            <a:ext cx="2779200" cy="13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ルール検査・追跡・テストは本来人間開発でも必要。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で継続しやすくなった。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Shape 15"/>
          <p:cNvSpPr/>
          <p:nvPr/>
        </p:nvSpPr>
        <p:spPr>
          <a:xfrm>
            <a:off x="8046720" y="1572840"/>
            <a:ext cx="3400920" cy="4187160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Shape 16"/>
          <p:cNvSpPr/>
          <p:nvPr/>
        </p:nvSpPr>
        <p:spPr>
          <a:xfrm>
            <a:off x="8339400" y="1847160"/>
            <a:ext cx="511200" cy="5112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8" name="Text 17"/>
          <p:cNvSpPr/>
          <p:nvPr/>
        </p:nvSpPr>
        <p:spPr>
          <a:xfrm>
            <a:off x="8339400" y="2020680"/>
            <a:ext cx="51120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Text 18"/>
          <p:cNvSpPr/>
          <p:nvPr/>
        </p:nvSpPr>
        <p:spPr>
          <a:xfrm>
            <a:off x="8321040" y="2670120"/>
            <a:ext cx="28522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29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生成コードはそのまま信頼できない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Text 19"/>
          <p:cNvSpPr/>
          <p:nvPr/>
        </p:nvSpPr>
        <p:spPr>
          <a:xfrm>
            <a:off x="8357760" y="3703320"/>
            <a:ext cx="2779200" cy="138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8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仕様との照合・テスト・レビューを通じて確認する。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Text 20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Text 21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33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Shape 0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4" name="Text 1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225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今後議論したい課題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 2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まだ答えが出ていないところ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Shape 3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DFF4E8"/>
          </a:solidFill>
          <a:ln w="12700">
            <a:solidFill>
              <a:srgbClr val="DFF4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Text 4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学び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Shape 5"/>
          <p:cNvSpPr/>
          <p:nvPr/>
        </p:nvSpPr>
        <p:spPr>
          <a:xfrm>
            <a:off x="658440" y="1389960"/>
            <a:ext cx="5229720" cy="193788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Shape 6"/>
          <p:cNvSpPr/>
          <p:nvPr/>
        </p:nvSpPr>
        <p:spPr>
          <a:xfrm>
            <a:off x="932760" y="1645920"/>
            <a:ext cx="419760" cy="41976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0" name="Text 7"/>
          <p:cNvSpPr/>
          <p:nvPr/>
        </p:nvSpPr>
        <p:spPr>
          <a:xfrm>
            <a:off x="932760" y="1783080"/>
            <a:ext cx="4197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1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Text 8"/>
          <p:cNvSpPr/>
          <p:nvPr/>
        </p:nvSpPr>
        <p:spPr>
          <a:xfrm>
            <a:off x="1499760" y="1627560"/>
            <a:ext cx="39495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設計の完成度向上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Text 9"/>
          <p:cNvSpPr/>
          <p:nvPr/>
        </p:nvSpPr>
        <p:spPr>
          <a:xfrm>
            <a:off x="932760" y="2249280"/>
            <a:ext cx="46170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SDD</a:t>
            </a:r>
            <a:r>
              <a:rPr lang="ja-JP" sz="12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を適用する境界・詳細化範囲は適切か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Shape 10"/>
          <p:cNvSpPr/>
          <p:nvPr/>
        </p:nvSpPr>
        <p:spPr>
          <a:xfrm>
            <a:off x="6163200" y="1389960"/>
            <a:ext cx="5229720" cy="193788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Shape 11"/>
          <p:cNvSpPr/>
          <p:nvPr/>
        </p:nvSpPr>
        <p:spPr>
          <a:xfrm>
            <a:off x="6437520" y="1645920"/>
            <a:ext cx="419760" cy="41976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5" name="Text 12"/>
          <p:cNvSpPr/>
          <p:nvPr/>
        </p:nvSpPr>
        <p:spPr>
          <a:xfrm>
            <a:off x="6437520" y="1783080"/>
            <a:ext cx="4197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2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Text 13"/>
          <p:cNvSpPr/>
          <p:nvPr/>
        </p:nvSpPr>
        <p:spPr>
          <a:xfrm>
            <a:off x="7004160" y="1627560"/>
            <a:ext cx="39495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仕様と実装のズレ最小化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Text 14"/>
          <p:cNvSpPr/>
          <p:nvPr/>
        </p:nvSpPr>
        <p:spPr>
          <a:xfrm>
            <a:off x="6437520" y="2249280"/>
            <a:ext cx="46170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r>
              <a:rPr lang="ja-JP" sz="12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層の設計チェーンやレビュー観点に抜けがないか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Shape 15"/>
          <p:cNvSpPr/>
          <p:nvPr/>
        </p:nvSpPr>
        <p:spPr>
          <a:xfrm>
            <a:off x="658440" y="3630240"/>
            <a:ext cx="5229720" cy="193788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Shape 16"/>
          <p:cNvSpPr/>
          <p:nvPr/>
        </p:nvSpPr>
        <p:spPr>
          <a:xfrm>
            <a:off x="932760" y="3886200"/>
            <a:ext cx="419760" cy="41976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0" name="Text 17"/>
          <p:cNvSpPr/>
          <p:nvPr/>
        </p:nvSpPr>
        <p:spPr>
          <a:xfrm>
            <a:off x="932760" y="4023360"/>
            <a:ext cx="4197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3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Text 18"/>
          <p:cNvSpPr/>
          <p:nvPr/>
        </p:nvSpPr>
        <p:spPr>
          <a:xfrm>
            <a:off x="1499760" y="3867840"/>
            <a:ext cx="39495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7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検証プロセスの軽量化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Text 19"/>
          <p:cNvSpPr/>
          <p:nvPr/>
        </p:nvSpPr>
        <p:spPr>
          <a:xfrm>
            <a:off x="932760" y="4489560"/>
            <a:ext cx="46170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厳密な整合性を保ちながら検証を軽くできるか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Shape 20"/>
          <p:cNvSpPr/>
          <p:nvPr/>
        </p:nvSpPr>
        <p:spPr>
          <a:xfrm>
            <a:off x="6163200" y="3630240"/>
            <a:ext cx="5229720" cy="193788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E8EDF3"/>
            </a:solidFill>
            <a:round/>
          </a:ln>
          <a:effectLst>
            <a:outerShdw algn="bl" dir="0" dist="0" kx="0" ky="0" rotWithShape="0" sx="100000" sy="10000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Shape 21"/>
          <p:cNvSpPr/>
          <p:nvPr/>
        </p:nvSpPr>
        <p:spPr>
          <a:xfrm>
            <a:off x="6437520" y="3886200"/>
            <a:ext cx="419760" cy="419760"/>
          </a:xfrm>
          <a:prstGeom prst="ellipse">
            <a:avLst/>
          </a:prstGeom>
          <a:solidFill>
            <a:srgbClr val="D94B3D"/>
          </a:solidFill>
          <a:ln w="12700">
            <a:solidFill>
              <a:srgbClr val="D94B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5" name="Text 22"/>
          <p:cNvSpPr/>
          <p:nvPr/>
        </p:nvSpPr>
        <p:spPr>
          <a:xfrm>
            <a:off x="6437520" y="4023360"/>
            <a:ext cx="4197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4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Text 23"/>
          <p:cNvSpPr/>
          <p:nvPr/>
        </p:nvSpPr>
        <p:spPr>
          <a:xfrm>
            <a:off x="7004160" y="3867840"/>
            <a:ext cx="394956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700" b="1" u="none" strike="noStrike">
                <a:solidFill>
                  <a:srgbClr val="122033"/>
                </a:solidFill>
                <a:effectLst/>
                <a:uFillTx/>
                <a:latin typeface="Noto Sans CJK JP"/>
                <a:ea typeface="Noto Sans CJK JP"/>
              </a:rPr>
              <a:t>の作業抜け対策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 24"/>
          <p:cNvSpPr/>
          <p:nvPr/>
        </p:nvSpPr>
        <p:spPr>
          <a:xfrm>
            <a:off x="6437520" y="4489560"/>
            <a:ext cx="46170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270" b="0" u="none" strike="noStrike">
                <a:solidFill>
                  <a:srgbClr val="617084"/>
                </a:solidFill>
                <a:effectLst/>
                <a:uFillTx/>
                <a:latin typeface="Noto Sans CJK JP"/>
                <a:ea typeface="Noto Sans CJK JP"/>
              </a:rPr>
              <a:t>に任せる範囲と、人間が責任を持つ範囲をどう定義するか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Text 25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Text 26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A7B1BE"/>
                </a:solidFill>
                <a:effectLst/>
                <a:uFillTx/>
                <a:latin typeface="Noto Sans CJK JP"/>
                <a:ea typeface="Noto Sans CJK JP"/>
              </a:rPr>
              <a:t>34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C1B2A"/>
          </a:solidFill>
          <a:ln w="12700">
            <a:solidFill>
              <a:srgbClr val="0C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1" name="Shape 1"/>
          <p:cNvSpPr/>
          <p:nvPr/>
        </p:nvSpPr>
        <p:spPr>
          <a:xfrm>
            <a:off x="0" y="0"/>
            <a:ext cx="12191040" cy="63360"/>
          </a:xfrm>
          <a:prstGeom prst="rect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2" name="Text 2"/>
          <p:cNvSpPr/>
          <p:nvPr/>
        </p:nvSpPr>
        <p:spPr>
          <a:xfrm>
            <a:off x="502920" y="201240"/>
            <a:ext cx="101948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Fireball</a:t>
            </a:r>
            <a:r>
              <a:rPr lang="ja-JP" sz="22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で得たノウハウ</a:t>
            </a:r>
            <a:endParaRPr lang="en-US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3" name="Text 3"/>
          <p:cNvSpPr/>
          <p:nvPr/>
        </p:nvSpPr>
        <p:spPr>
          <a:xfrm>
            <a:off x="511920" y="667440"/>
            <a:ext cx="10057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20A66A"/>
                </a:solidFill>
                <a:effectLst/>
                <a:uFillTx/>
                <a:latin typeface="Noto Sans CJK JP"/>
                <a:ea typeface="Noto Sans CJK JP"/>
              </a:rPr>
              <a:t>Q&amp;A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4" name="Shape 4"/>
          <p:cNvSpPr/>
          <p:nvPr/>
        </p:nvSpPr>
        <p:spPr>
          <a:xfrm>
            <a:off x="10808280" y="219600"/>
            <a:ext cx="840600" cy="291960"/>
          </a:xfrm>
          <a:prstGeom prst="roundRect">
            <a:avLst>
              <a:gd name="adj" fmla="val 50000"/>
            </a:avLst>
          </a:prstGeom>
          <a:solidFill>
            <a:srgbClr val="24384B"/>
          </a:solidFill>
          <a:ln w="12700">
            <a:solidFill>
              <a:srgbClr val="2438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5" name="Text 5"/>
          <p:cNvSpPr/>
          <p:nvPr/>
        </p:nvSpPr>
        <p:spPr>
          <a:xfrm>
            <a:off x="10890360" y="269640"/>
            <a:ext cx="6760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0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学び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6" name="Shape 6"/>
          <p:cNvSpPr/>
          <p:nvPr/>
        </p:nvSpPr>
        <p:spPr>
          <a:xfrm>
            <a:off x="9738360" y="868680"/>
            <a:ext cx="1076400" cy="10764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7" name="Shape 7"/>
          <p:cNvSpPr/>
          <p:nvPr/>
        </p:nvSpPr>
        <p:spPr>
          <a:xfrm>
            <a:off x="9891360" y="1021680"/>
            <a:ext cx="763560" cy="763560"/>
          </a:xfrm>
          <a:prstGeom prst="ellipse">
            <a:avLst/>
          </a:prstGeom>
          <a:solidFill>
            <a:srgbClr val="FFA238"/>
          </a:solidFill>
          <a:ln w="12700">
            <a:solidFill>
              <a:srgbClr val="FFA2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Shape 8"/>
          <p:cNvSpPr/>
          <p:nvPr/>
        </p:nvSpPr>
        <p:spPr>
          <a:xfrm>
            <a:off x="10037160" y="1167480"/>
            <a:ext cx="430200" cy="430200"/>
          </a:xfrm>
          <a:prstGeom prst="ellipse">
            <a:avLst/>
          </a:prstGeom>
          <a:solidFill>
            <a:srgbClr val="FFD08A"/>
          </a:solidFill>
          <a:ln w="12700">
            <a:solidFill>
              <a:srgbClr val="FFD0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9" name="Shape 9"/>
          <p:cNvSpPr/>
          <p:nvPr/>
        </p:nvSpPr>
        <p:spPr>
          <a:xfrm rot="10800000">
            <a:off x="8974800" y="1133280"/>
            <a:ext cx="1006920" cy="242640"/>
          </a:xfrm>
          <a:prstGeom prst="chevron">
            <a:avLst>
              <a:gd name="adj" fmla="val 50000"/>
            </a:avLst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0" name="Shape 10"/>
          <p:cNvSpPr/>
          <p:nvPr/>
        </p:nvSpPr>
        <p:spPr>
          <a:xfrm rot="10800000">
            <a:off x="9183240" y="1390320"/>
            <a:ext cx="798480" cy="194040"/>
          </a:xfrm>
          <a:prstGeom prst="chevron">
            <a:avLst>
              <a:gd name="adj" fmla="val 50000"/>
            </a:avLst>
          </a:prstGeom>
          <a:solidFill>
            <a:srgbClr val="FFB45B"/>
          </a:solidFill>
          <a:ln w="12700">
            <a:solidFill>
              <a:srgbClr val="FFB45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Shape 11"/>
          <p:cNvSpPr/>
          <p:nvPr/>
        </p:nvSpPr>
        <p:spPr>
          <a:xfrm>
            <a:off x="749880" y="1572840"/>
            <a:ext cx="5046840" cy="1572120"/>
          </a:xfrm>
          <a:prstGeom prst="roundRect">
            <a:avLst>
              <a:gd name="adj" fmla="val 5233"/>
            </a:avLst>
          </a:prstGeom>
          <a:solidFill>
            <a:srgbClr val="14283A"/>
          </a:solidFill>
          <a:ln w="12700">
            <a:solidFill>
              <a:srgbClr val="203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2" name="Shape 12"/>
          <p:cNvSpPr/>
          <p:nvPr/>
        </p:nvSpPr>
        <p:spPr>
          <a:xfrm>
            <a:off x="1005840" y="1810440"/>
            <a:ext cx="346680" cy="346680"/>
          </a:xfrm>
          <a:prstGeom prst="ellipse">
            <a:avLst/>
          </a:prstGeom>
          <a:solidFill>
            <a:srgbClr val="2B6FFF"/>
          </a:solidFill>
          <a:ln w="12700">
            <a:solidFill>
              <a:srgbClr val="2B6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3" name="Text 13"/>
          <p:cNvSpPr/>
          <p:nvPr/>
        </p:nvSpPr>
        <p:spPr>
          <a:xfrm>
            <a:off x="1463040" y="1783080"/>
            <a:ext cx="39859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設計判断まで仕様にする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4" name="Text 14"/>
          <p:cNvSpPr/>
          <p:nvPr/>
        </p:nvSpPr>
        <p:spPr>
          <a:xfrm>
            <a:off x="1024200" y="2395800"/>
            <a:ext cx="4498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詳細仕様・設計ガイドラインを</a:t>
            </a:r>
            <a:r>
              <a:rPr lang="en-US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LLM</a:t>
            </a:r>
            <a:r>
              <a:rPr lang="ja-JP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へ渡す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5" name="Shape 15"/>
          <p:cNvSpPr/>
          <p:nvPr/>
        </p:nvSpPr>
        <p:spPr>
          <a:xfrm>
            <a:off x="6163200" y="1572840"/>
            <a:ext cx="5046840" cy="1572120"/>
          </a:xfrm>
          <a:prstGeom prst="roundRect">
            <a:avLst>
              <a:gd name="adj" fmla="val 5233"/>
            </a:avLst>
          </a:prstGeom>
          <a:solidFill>
            <a:srgbClr val="14283A"/>
          </a:solidFill>
          <a:ln w="12700">
            <a:solidFill>
              <a:srgbClr val="203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6" name="Shape 16"/>
          <p:cNvSpPr/>
          <p:nvPr/>
        </p:nvSpPr>
        <p:spPr>
          <a:xfrm>
            <a:off x="6419160" y="1810440"/>
            <a:ext cx="346680" cy="346680"/>
          </a:xfrm>
          <a:prstGeom prst="ellipse">
            <a:avLst/>
          </a:prstGeom>
          <a:solidFill>
            <a:srgbClr val="00A7B5"/>
          </a:solidFill>
          <a:ln w="12700">
            <a:solidFill>
              <a:srgbClr val="00A7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7" name="Text 17"/>
          <p:cNvSpPr/>
          <p:nvPr/>
        </p:nvSpPr>
        <p:spPr>
          <a:xfrm>
            <a:off x="6876360" y="1783080"/>
            <a:ext cx="39859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依存関係で大量の仕様を管理する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8" name="Text 18"/>
          <p:cNvSpPr/>
          <p:nvPr/>
        </p:nvSpPr>
        <p:spPr>
          <a:xfrm>
            <a:off x="6437520" y="2395800"/>
            <a:ext cx="4498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クリーンアーキテクチャ </a:t>
            </a:r>
            <a:r>
              <a:rPr lang="en-US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+ </a:t>
            </a:r>
            <a:r>
              <a:rPr lang="ja-JP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トレーサビリティ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9" name="Shape 19"/>
          <p:cNvSpPr/>
          <p:nvPr/>
        </p:nvSpPr>
        <p:spPr>
          <a:xfrm>
            <a:off x="749880" y="3429000"/>
            <a:ext cx="5046840" cy="1572120"/>
          </a:xfrm>
          <a:prstGeom prst="roundRect">
            <a:avLst>
              <a:gd name="adj" fmla="val 5233"/>
            </a:avLst>
          </a:prstGeom>
          <a:solidFill>
            <a:srgbClr val="14283A"/>
          </a:solidFill>
          <a:ln w="12700">
            <a:solidFill>
              <a:srgbClr val="203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0" name="Shape 20"/>
          <p:cNvSpPr/>
          <p:nvPr/>
        </p:nvSpPr>
        <p:spPr>
          <a:xfrm>
            <a:off x="1005840" y="3666600"/>
            <a:ext cx="346680" cy="34668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1" name="Text 21"/>
          <p:cNvSpPr/>
          <p:nvPr/>
        </p:nvSpPr>
        <p:spPr>
          <a:xfrm>
            <a:off x="1463040" y="3639240"/>
            <a:ext cx="39859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検査できるものは機械で強制する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2" name="Text 22"/>
          <p:cNvSpPr/>
          <p:nvPr/>
        </p:nvSpPr>
        <p:spPr>
          <a:xfrm>
            <a:off x="1024200" y="4251960"/>
            <a:ext cx="4498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文章・</a:t>
            </a:r>
            <a:r>
              <a:rPr lang="en-US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AST</a:t>
            </a:r>
            <a:r>
              <a:rPr lang="ja-JP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・依存方向・証跡・変更伝播を継続検査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3" name="Shape 23"/>
          <p:cNvSpPr/>
          <p:nvPr/>
        </p:nvSpPr>
        <p:spPr>
          <a:xfrm>
            <a:off x="6163200" y="3429000"/>
            <a:ext cx="5046840" cy="1572120"/>
          </a:xfrm>
          <a:prstGeom prst="roundRect">
            <a:avLst>
              <a:gd name="adj" fmla="val 5233"/>
            </a:avLst>
          </a:prstGeom>
          <a:solidFill>
            <a:srgbClr val="14283A"/>
          </a:solidFill>
          <a:ln w="12700">
            <a:solidFill>
              <a:srgbClr val="203B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4" name="Shape 24"/>
          <p:cNvSpPr/>
          <p:nvPr/>
        </p:nvSpPr>
        <p:spPr>
          <a:xfrm>
            <a:off x="6419160" y="3666600"/>
            <a:ext cx="346680" cy="346680"/>
          </a:xfrm>
          <a:prstGeom prst="ellipse">
            <a:avLst/>
          </a:prstGeom>
          <a:solidFill>
            <a:srgbClr val="20A66A"/>
          </a:solidFill>
          <a:ln w="12700">
            <a:solidFill>
              <a:srgbClr val="20A6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5" name="Text 25"/>
          <p:cNvSpPr/>
          <p:nvPr/>
        </p:nvSpPr>
        <p:spPr>
          <a:xfrm>
            <a:off x="6876360" y="3639240"/>
            <a:ext cx="39859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65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最終判断は人間が担う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6" name="Text 26"/>
          <p:cNvSpPr/>
          <p:nvPr/>
        </p:nvSpPr>
        <p:spPr>
          <a:xfrm>
            <a:off x="6437520" y="4251960"/>
            <a:ext cx="4498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220" b="0" u="none" strike="noStrike">
                <a:solidFill>
                  <a:srgbClr val="B7C4CF"/>
                </a:solidFill>
                <a:effectLst/>
                <a:uFillTx/>
                <a:latin typeface="Noto Sans CJK JP"/>
                <a:ea typeface="Noto Sans CJK JP"/>
              </a:rPr>
              <a:t>は候補生成と比較、責任は人間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7" name="Shape 27"/>
          <p:cNvSpPr/>
          <p:nvPr/>
        </p:nvSpPr>
        <p:spPr>
          <a:xfrm>
            <a:off x="1481400" y="5468040"/>
            <a:ext cx="9216360" cy="602640"/>
          </a:xfrm>
          <a:prstGeom prst="roundRect">
            <a:avLst>
              <a:gd name="adj" fmla="val 10606"/>
            </a:avLst>
          </a:prstGeom>
          <a:solidFill>
            <a:srgbClr val="233341"/>
          </a:solidFill>
          <a:ln w="12700">
            <a:solidFill>
              <a:srgbClr val="F57C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8" name="Text 28"/>
          <p:cNvSpPr/>
          <p:nvPr/>
        </p:nvSpPr>
        <p:spPr>
          <a:xfrm>
            <a:off x="1664280" y="5596200"/>
            <a:ext cx="8850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ja-JP" sz="15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個別の</a:t>
            </a:r>
            <a:r>
              <a:rPr lang="en-US" sz="15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AI</a:t>
            </a:r>
            <a:r>
              <a:rPr lang="ja-JP" sz="1520" b="1" u="none" strike="noStrike">
                <a:solidFill>
                  <a:srgbClr val="FFFFFF"/>
                </a:solidFill>
                <a:effectLst/>
                <a:uFillTx/>
                <a:latin typeface="Noto Sans CJK JP"/>
                <a:ea typeface="Noto Sans CJK JP"/>
              </a:rPr>
              <a:t>対策ではなく、プロセス・仕組み・ツールとして再発防止する</a:t>
            </a:r>
            <a:endParaRPr lang="en-US" sz="1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9" name="Text 29">
            <a:hlinkClick r:id="rId1"/>
          </p:cNvPr>
          <p:cNvSpPr/>
          <p:nvPr/>
        </p:nvSpPr>
        <p:spPr>
          <a:xfrm>
            <a:off x="4316040" y="6291000"/>
            <a:ext cx="35654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sng" strike="noStrike">
                <a:solidFill>
                  <a:srgbClr val="0563C1"/>
                </a:solidFill>
                <a:effectLst/>
                <a:uFillTx/>
                <a:latin typeface="Noto Sans CJK JP"/>
                <a:ea typeface="Noto Sans CJK JP"/>
                <a:hlinkClick r:id="rId2"/>
              </a:rPr>
              <a:t>github.com/kmt-t/fireball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0" name="Text 30"/>
          <p:cNvSpPr/>
          <p:nvPr/>
        </p:nvSpPr>
        <p:spPr>
          <a:xfrm>
            <a:off x="502920" y="6602040"/>
            <a:ext cx="182808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718396"/>
                </a:solidFill>
                <a:effectLst/>
                <a:uFillTx/>
                <a:latin typeface="Noto Sans CJK JP"/>
                <a:ea typeface="Noto Sans CJK JP"/>
              </a:rPr>
              <a:t>fireball / SDD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1" name="Text 31"/>
          <p:cNvSpPr/>
          <p:nvPr/>
        </p:nvSpPr>
        <p:spPr>
          <a:xfrm>
            <a:off x="11155680" y="6565320"/>
            <a:ext cx="45648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718396"/>
                </a:solidFill>
                <a:effectLst/>
                <a:uFillTx/>
                <a:latin typeface="Noto Sans CJK JP"/>
                <a:ea typeface="Noto Sans CJK JP"/>
              </a:rPr>
              <a:t>35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LibreOffice/26.8.0.3$Linux_X86_64 LibreOffice_project/680$Build-3</Application>
  <AppVersion>15.0000</AppVersion>
  <Company>kmt-t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2026-09-19T06:36:53Z</dcterms:created>
  <dc:creator>kmt-t</dc:creator>
  <dc:description/>
  <dc:language>ja-JP</dc:language>
  <cp:lastModifiedBy/>
  <dcterms:modified xsi:type="dcterms:W3CDTF">2026-09-19T17:16:01Z</dcterms:modified>
  <cp:revision>14</cp:revision>
  <dc:subject>fireball開発で得たノウハウ：WASMハイパーバイザをSDDで開発してみた</dc:subject>
  <dc:title>fireball開発で得たノウハウ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35</vt:i4>
  </property>
  <property fmtid="{D5CDD505-2E9C-101B-9397-08002B2CF9AE}" pid="3" name="PresentationFormat">
    <vt:lpwstr>On-screen Show (16:9)</vt:lpwstr>
  </property>
  <property fmtid="{D5CDD505-2E9C-101B-9397-08002B2CF9AE}" pid="4" name="Slides">
    <vt:i4>35</vt:i4>
  </property>
</Properties>
</file>